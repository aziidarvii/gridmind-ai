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2d31056-bda9-9fe3-9d8c-b623554fbaa9}">
          <p14:sldIdLst>
            <p14:sldId id="256"/>
            <p14:sldId id="257"/>
            <p14:sldId id="258"/>
          </p14:sldIdLst>
        </p14:section>
        <p14:section name="How it works" id="{5daa3812-96ca-344f-a933-8bad00dfae79}">
          <p14:sldIdLst>
            <p14:sldId id="259"/>
            <p14:sldId id="260"/>
            <p14:sldId id="261"/>
          </p14:sldIdLst>
        </p14:section>
        <p14:section name="Walkthrough" id="{f7fb0809-5127-c7d6-a32b-9e1714519e6f}">
          <p14:sldIdLst>
            <p14:sldId id="262"/>
            <p14:sldId id="263"/>
            <p14:sldId id="264"/>
            <p14:sldId id="265"/>
            <p14:sldId id="266"/>
            <p14:sldId id="267"/>
            <p14:sldId id="268"/>
            <p14:sldId id="269"/>
          </p14:sldIdLst>
        </p14:section>
        <p14:section name="Results" id="{755cef8a-b2af-72ab-0fef-3edeecd8eb5c}">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GridMind AI is a working web application, not a mock-up. It draws a real distribution network, calculates it with an AC power-flow solver, finds every violation, lets ten agents diagnose and correct it, and proves the fix with an independent verification. Every number in this deck comes from a stored simulation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real and growing: AI campuses add megawatts of mostly inflexible load to feeders built for homes and shops. On our network the solver reports 17 violations: 14 undervoltages down to 0.895 per unit and three overloaded transformers, including the data-center transformer.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steps, all automatic once you press Run. The loop of Correct and Verify repeats until verification passes or the iteration budget is used. The key design rule is that the solver does the engineering math and the model only explains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The browser never sees database credentials; everything goes through the validated FastAPI layer. The engine is pure Python with pandapower. Agents persist every task to MongoDB, which is what makes the run resumable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agents with distinct jobs. The three diagnosis agents run in parallel threads. The correction loop is bounded and the verification agent is independent: it re-reads the model from MongoDB rather than trusting the optimizer's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invent the network. It is the CIGRE medium-voltage benchmark, and our model reproduces its published power flow exactly. Public SimBench profiles and live Open-Meteo weather feed the time series. Anything assumed is tagged in the data and visible in the detail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page 2, the main screen. The diagram is drawn from the stored circuit model, not an image. Switching the layer recolours the same diagram; switching the state shows the original, the proposed plan and the verified result in the same layout.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bus B11 opens the detail panel: 0.9230 per unit, 18.46 kV, the cause of its undervoltage, the exact supply path from the 110 kV grid, and its voltage history across all stored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agents page refreshes every two seconds. In this run the optimizer evaluated 179 plans with 185 AC power flows in about 39 seconds, and the verification agent confirmed all 17 violations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Feeder 1 undervoltage is driven by line impedance; the data-center buses by the data-center load itself, which the counterfactual run without the data center proves. Remedies depend on the cause, and every size comes from a simulation, for example the capacitor from a measured voltage-per-Mvar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proposed plan costs $62,000: a 1,500 kvar capacitor, three tap steps on T0-12, shifting 0.35 MW of AI training and discharging the battery for the peak. The verified state is a separate simulation; the app only says fixed when it really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layout on both sides, so the difference is obvious. The table underneath lists every bus and branch with original value, new value, change and status. Losses drop by a quarter as a side benefit of the reactive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center is not a separate dashboard: its loads sit on buses in the same model. The what-if slider re-solves the whole network for a demand change. The Optimization Agent schedules deferrable training with a linear program and then checks every hour with full AC power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Recursive learning is concrete: lessons store the remedy, its parameters such as the measured capacitor sensitivity, and whether it was verified. The next run reuses them. The report agent writes a full technical report from stored results that can be downloaded.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optimizer compared this operational plan with equipment upgrades: replacing transformer T0-12 alone would cost about 1.4 million dollars. Coordinating the data center's flexible load with a capacitor and a tap change solves everything for $62,000.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explicit about scope: the app labels what it cannot compute instead of guessing. The natural next steps are enabling Claude reasoning with an API key, importing real utility data, and adding a fault-level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154680"/>
            <a:ext cx="10058400" cy="10058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46520"/>
            <a:ext cx="2743200" cy="274320"/>
          </a:xfrm>
          <a:prstGeom prst="rect">
            <a:avLst/>
          </a:prstGeom>
          <a:noFill/>
          <a:ln/>
        </p:spPr>
        <p:txBody>
          <a:bodyPr wrap="square" lIns="0" tIns="0" rIns="0" bIns="0" rtlCol="0" anchor="ctr"/>
          <a:lstStyle/>
          <a:p>
            <a:pPr indent="0" marL="0">
              <a:buNone/>
            </a:pPr>
            <a:r>
              <a:rPr lang="en-US" sz="1000" dirty="0">
                <a:solidFill>
                  <a:schemeClr val="accent1"/>
                </a:solidFill>
              </a:rPr>
              <a:t>GridMind AI</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188720"/>
          </a:xfrm>
          <a:prstGeom prst="rect">
            <a:avLst/>
          </a:prstGeom>
          <a:noFill/>
          <a:ln/>
        </p:spPr>
        <p:txBody>
          <a:bodyPr wrap="square" lIns="0" tIns="0" rIns="0" bIns="0" rtlCol="0" anchor="b"/>
          <a:lstStyle/>
          <a:p>
            <a:pPr algn="l" indent="0" marL="0">
              <a:buNone/>
            </a:pPr>
            <a:r>
              <a:rPr lang="en-US" sz="6000" b="1" dirty="0">
                <a:solidFill>
                  <a:schemeClr val="bg1"/>
                </a:solidFill>
              </a:rPr>
              <a:t>GridMind AI</a:t>
            </a:r>
            <a:endParaRPr lang="en-US" sz="6000" dirty="0"/>
          </a:p>
        </p:txBody>
      </p:sp>
      <p:sp>
        <p:nvSpPr>
          <p:cNvPr id="3" name="Text 0"/>
          <p:cNvSpPr/>
          <p:nvPr>
            <p:ph idx="101" type="body" hasCustomPrompt="1"/>
          </p:nvPr>
        </p:nvSpPr>
        <p:spPr>
          <a:xfrm>
            <a:off x="731520" y="3154680"/>
            <a:ext cx="10058400" cy="1005840"/>
          </a:xfrm>
          <a:prstGeom prst="rect">
            <a:avLst/>
          </a:prstGeom>
          <a:noFill/>
          <a:ln/>
        </p:spPr>
        <p:txBody>
          <a:bodyPr wrap="square" lIns="0" tIns="0" rIns="0" bIns="0" rtlCol="0" anchor="t"/>
          <a:lstStyle/>
          <a:p>
            <a:pPr indent="0" marL="0">
              <a:buNone/>
            </a:pPr>
            <a:r>
              <a:rPr lang="en-US" sz="2200" dirty="0">
                <a:solidFill>
                  <a:schemeClr val="bg2"/>
                </a:solidFill>
              </a:rPr>
              <a:t>Multi-agent circuit analysis, verified correction and data-center energy optimization</a:t>
            </a:r>
            <a:endParaRPr lang="en-US" sz="2200" dirty="0"/>
          </a:p>
        </p:txBody>
      </p:sp>
      <p:sp>
        <p:nvSpPr>
          <p:cNvPr id="4" name="event"/>
          <p:cNvSpPr txBox="1"/>
          <p:nvPr/>
        </p:nvSpPr>
        <p:spPr>
          <a:xfrm>
            <a:off x="731520" y="4160520"/>
            <a:ext cx="10058400" cy="365760"/>
          </a:xfrm>
          <a:prstGeom prst="rect">
            <a:avLst/>
          </a:prstGeom>
          <a:noFill/>
          <a:ln/>
        </p:spPr>
        <p:txBody>
          <a:bodyPr wrap="square" lIns="0" tIns="0" rIns="0" bIns="0" rtlCol="0" anchor="ctr"/>
          <a:lstStyle/>
          <a:p>
            <a:pPr indent="0" marL="0">
              <a:buNone/>
            </a:pPr>
            <a:r>
              <a:rPr lang="en-US" sz="1400" dirty="0">
                <a:solidFill>
                  <a:schemeClr val="accent2"/>
                </a:solidFill>
              </a:rPr>
              <a:t>SFTW: Harness Engineering &amp; Model Wrangling Hackathon  ·  October 2026</a:t>
            </a:r>
            <a:endParaRPr lang="en-US" sz="1400" dirty="0"/>
          </a:p>
        </p:txBody>
      </p:sp>
      <p:sp>
        <p:nvSpPr>
          <p:cNvPr id="5" name="title-stat-0"/>
          <p:cNvSpPr txBox="1"/>
          <p:nvPr/>
        </p:nvSpPr>
        <p:spPr>
          <a:xfrm>
            <a:off x="731520" y="4983480"/>
            <a:ext cx="1280160" cy="731520"/>
          </a:xfrm>
          <a:prstGeom prst="rect">
            <a:avLst/>
          </a:prstGeom>
          <a:noFill/>
          <a:ln/>
        </p:spPr>
        <p:txBody>
          <a:bodyPr wrap="square" lIns="0" tIns="0" rIns="0" bIns="0" rtlCol="0" anchor="ctr"/>
          <a:lstStyle/>
          <a:p>
            <a:pPr indent="0" marL="0">
              <a:buNone/>
            </a:pPr>
            <a:r>
              <a:rPr lang="en-US" sz="4000" b="1" dirty="0">
                <a:solidFill>
                  <a:schemeClr val="accent2"/>
                </a:solidFill>
              </a:rPr>
              <a:t>17</a:t>
            </a:r>
            <a:endParaRPr lang="en-US" sz="4000" dirty="0"/>
          </a:p>
        </p:txBody>
      </p:sp>
      <p:sp>
        <p:nvSpPr>
          <p:cNvPr id="6" name="title-stat-l-0"/>
          <p:cNvSpPr txBox="1"/>
          <p:nvPr/>
        </p:nvSpPr>
        <p:spPr>
          <a:xfrm>
            <a:off x="1965960" y="5074920"/>
            <a:ext cx="2103120" cy="594360"/>
          </a:xfrm>
          <a:prstGeom prst="rect">
            <a:avLst/>
          </a:prstGeom>
          <a:noFill/>
          <a:ln/>
        </p:spPr>
        <p:txBody>
          <a:bodyPr wrap="square" lIns="0" tIns="0" rIns="0" bIns="0" rtlCol="0" anchor="ctr"/>
          <a:lstStyle/>
          <a:p>
            <a:pPr indent="0" marL="0">
              <a:buNone/>
            </a:pPr>
            <a:r>
              <a:rPr lang="en-US" sz="1400" dirty="0">
                <a:solidFill>
                  <a:schemeClr val="bg1"/>
                </a:solidFill>
              </a:rPr>
              <a:t>violations found by AC power flow</a:t>
            </a:r>
            <a:endParaRPr lang="en-US" sz="1400" dirty="0"/>
          </a:p>
        </p:txBody>
      </p:sp>
      <p:sp>
        <p:nvSpPr>
          <p:cNvPr id="7" name="title-stat-1"/>
          <p:cNvSpPr txBox="1"/>
          <p:nvPr/>
        </p:nvSpPr>
        <p:spPr>
          <a:xfrm>
            <a:off x="4297680" y="4983480"/>
            <a:ext cx="1280160" cy="731520"/>
          </a:xfrm>
          <a:prstGeom prst="rect">
            <a:avLst/>
          </a:prstGeom>
          <a:noFill/>
          <a:ln/>
        </p:spPr>
        <p:txBody>
          <a:bodyPr wrap="square" lIns="0" tIns="0" rIns="0" bIns="0" rtlCol="0" anchor="ctr"/>
          <a:lstStyle/>
          <a:p>
            <a:pPr indent="0" marL="0">
              <a:buNone/>
            </a:pPr>
            <a:r>
              <a:rPr lang="en-US" sz="4000" b="1" dirty="0">
                <a:solidFill>
                  <a:schemeClr val="accent2"/>
                </a:solidFill>
              </a:rPr>
              <a:t>179</a:t>
            </a:r>
            <a:endParaRPr lang="en-US" sz="4000" dirty="0"/>
          </a:p>
        </p:txBody>
      </p:sp>
      <p:sp>
        <p:nvSpPr>
          <p:cNvPr id="8" name="title-stat-l-1"/>
          <p:cNvSpPr txBox="1"/>
          <p:nvPr/>
        </p:nvSpPr>
        <p:spPr>
          <a:xfrm>
            <a:off x="5532120" y="5074920"/>
            <a:ext cx="2103120" cy="594360"/>
          </a:xfrm>
          <a:prstGeom prst="rect">
            <a:avLst/>
          </a:prstGeom>
          <a:noFill/>
          <a:ln/>
        </p:spPr>
        <p:txBody>
          <a:bodyPr wrap="square" lIns="0" tIns="0" rIns="0" bIns="0" rtlCol="0" anchor="ctr"/>
          <a:lstStyle/>
          <a:p>
            <a:pPr indent="0" marL="0">
              <a:buNone/>
            </a:pPr>
            <a:r>
              <a:rPr lang="en-US" sz="1400" dirty="0">
                <a:solidFill>
                  <a:schemeClr val="bg1"/>
                </a:solidFill>
              </a:rPr>
              <a:t>plans evaluated by the agents</a:t>
            </a:r>
            <a:endParaRPr lang="en-US" sz="1400" dirty="0"/>
          </a:p>
        </p:txBody>
      </p:sp>
      <p:sp>
        <p:nvSpPr>
          <p:cNvPr id="9" name="title-stat-2"/>
          <p:cNvSpPr txBox="1"/>
          <p:nvPr/>
        </p:nvSpPr>
        <p:spPr>
          <a:xfrm>
            <a:off x="7863840" y="4983480"/>
            <a:ext cx="1280160" cy="731520"/>
          </a:xfrm>
          <a:prstGeom prst="rect">
            <a:avLst/>
          </a:prstGeom>
          <a:noFill/>
          <a:ln/>
        </p:spPr>
        <p:txBody>
          <a:bodyPr wrap="square" lIns="0" tIns="0" rIns="0" bIns="0" rtlCol="0" anchor="ctr"/>
          <a:lstStyle/>
          <a:p>
            <a:pPr indent="0" marL="0">
              <a:buNone/>
            </a:pPr>
            <a:r>
              <a:rPr lang="en-US" sz="4000" b="1" dirty="0">
                <a:solidFill>
                  <a:schemeClr val="accent2"/>
                </a:solidFill>
              </a:rPr>
              <a:t>0</a:t>
            </a:r>
            <a:endParaRPr lang="en-US" sz="4000" dirty="0"/>
          </a:p>
        </p:txBody>
      </p:sp>
      <p:sp>
        <p:nvSpPr>
          <p:cNvPr id="10" name="title-stat-l-2"/>
          <p:cNvSpPr txBox="1"/>
          <p:nvPr/>
        </p:nvSpPr>
        <p:spPr>
          <a:xfrm>
            <a:off x="9098280" y="5074920"/>
            <a:ext cx="2103120" cy="594360"/>
          </a:xfrm>
          <a:prstGeom prst="rect">
            <a:avLst/>
          </a:prstGeom>
          <a:noFill/>
          <a:ln/>
        </p:spPr>
        <p:txBody>
          <a:bodyPr wrap="square" lIns="0" tIns="0" rIns="0" bIns="0" rtlCol="0" anchor="ctr"/>
          <a:lstStyle/>
          <a:p>
            <a:pPr indent="0" marL="0">
              <a:buNone/>
            </a:pPr>
            <a:r>
              <a:rPr lang="en-US" sz="1400" dirty="0">
                <a:solidFill>
                  <a:schemeClr val="bg1"/>
                </a:solidFill>
              </a:rPr>
              <a:t>violations left after verification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AI data centers push distribution grids past their limits</a:t>
            </a:r>
            <a:endParaRPr lang="en-US" sz="3200" dirty="0"/>
          </a:p>
        </p:txBody>
      </p:sp>
      <p:sp>
        <p:nvSpPr>
          <p:cNvPr id="3" name="problem-text"/>
          <p:cNvSpPr txBox="1"/>
          <p:nvPr/>
        </p:nvSpPr>
        <p:spPr>
          <a:xfrm>
            <a:off x="548640" y="1417320"/>
            <a:ext cx="5669280" cy="4389120"/>
          </a:xfrm>
          <a:prstGeom prst="rect">
            <a:avLst/>
          </a:prstGeom>
          <a:noFill/>
          <a:ln/>
        </p:spPr>
        <p:txBody>
          <a:bodyPr wrap="square" lIns="0" tIns="0" rIns="0" bIns="0" rtlCol="0" anchor="t"/>
          <a:lstStyle/>
          <a:p>
            <a:pPr indent="0" marL="0">
              <a:buNone/>
            </a:pPr>
            <a:r>
              <a:rPr lang="en-US" sz="1800" dirty="0">
                <a:solidFill>
                  <a:schemeClr val="tx1"/>
                </a:solidFill>
              </a:rPr>
              <a:t>The demo network is the public CIGRE MV benchmark: two 20 kV feeders supplied by 25 MVA transformers.</a:t>
            </a:r>
            <a:endParaRPr lang="en-US" sz="1800" dirty="0"/>
          </a:p>
          <a:p>
            <a:pPr indent="0" marL="0">
              <a:buNone/>
            </a:pPr>
            <a:r>
              <a:rPr lang="en-US" sz="800" dirty="0">
                <a:solidFill>
                  <a:schemeClr val="tx1"/>
                </a:solidFill>
              </a:rPr>
              <a:t> </a:t>
            </a:r>
            <a:endParaRPr lang="en-US" sz="1800" dirty="0"/>
          </a:p>
          <a:p>
            <a:pPr indent="0" marL="0">
              <a:buNone/>
            </a:pPr>
            <a:r>
              <a:rPr lang="en-US" sz="1800" dirty="0">
                <a:solidFill>
                  <a:schemeClr val="tx1"/>
                </a:solidFill>
              </a:rPr>
              <a:t>We connected a 4 MW AI data-center campus at Bus 14. At the evening peak the solver finds undervoltage along feeder 1 and at the data center, and both supply transformers overloaded.</a:t>
            </a:r>
            <a:endParaRPr lang="en-US" sz="1800" dirty="0"/>
          </a:p>
          <a:p>
            <a:pPr indent="0" marL="0">
              <a:buNone/>
            </a:pPr>
            <a:r>
              <a:rPr lang="en-US" sz="800" dirty="0">
                <a:solidFill>
                  <a:schemeClr val="tx1"/>
                </a:solidFill>
              </a:rPr>
              <a:t> </a:t>
            </a:r>
            <a:endParaRPr lang="en-US" sz="1800" dirty="0"/>
          </a:p>
          <a:p>
            <a:pPr indent="0" marL="0">
              <a:buNone/>
            </a:pPr>
            <a:r>
              <a:rPr lang="en-US" sz="1800" b="1" dirty="0">
                <a:solidFill>
                  <a:schemeClr val="tx1"/>
                </a:solidFill>
              </a:rPr>
              <a:t>Engineers need to know where, why, what to change, and proof that the change works.</a:t>
            </a:r>
            <a:endParaRPr lang="en-US" sz="1800" dirty="0"/>
          </a:p>
        </p:txBody>
      </p:sp>
      <p:sp>
        <p:nvSpPr>
          <p:cNvPr id="4" name="stat-bg-Lowest bus voltage (limit 0.95 pu)"/>
          <p:cNvSpPr/>
          <p:nvPr/>
        </p:nvSpPr>
        <p:spPr>
          <a:xfrm>
            <a:off x="6766560" y="1417320"/>
            <a:ext cx="4846320" cy="1417320"/>
          </a:xfrm>
          <a:prstGeom prst="roundRect">
            <a:avLst>
              <a:gd name="adj" fmla="val 7742"/>
            </a:avLst>
          </a:prstGeom>
          <a:solidFill>
            <a:schemeClr val="bg2"/>
          </a:solidFill>
          <a:ln/>
        </p:spPr>
      </p:sp>
      <p:sp>
        <p:nvSpPr>
          <p:cNvPr id="5" name="stat-v-Lowest bus voltage (limit 0.95 pu)"/>
          <p:cNvSpPr txBox="1"/>
          <p:nvPr/>
        </p:nvSpPr>
        <p:spPr>
          <a:xfrm>
            <a:off x="6995160" y="1527048"/>
            <a:ext cx="4389120" cy="777240"/>
          </a:xfrm>
          <a:prstGeom prst="rect">
            <a:avLst/>
          </a:prstGeom>
          <a:noFill/>
          <a:ln/>
        </p:spPr>
        <p:txBody>
          <a:bodyPr wrap="square" lIns="0" tIns="0" rIns="0" bIns="0" rtlCol="0" anchor="ctr"/>
          <a:lstStyle/>
          <a:p>
            <a:pPr indent="0" marL="0">
              <a:buNone/>
            </a:pPr>
            <a:r>
              <a:rPr lang="en-US" sz="4000" b="1" dirty="0">
                <a:solidFill>
                  <a:schemeClr val="accent6"/>
                </a:solidFill>
              </a:rPr>
              <a:t>0.895 pu</a:t>
            </a:r>
            <a:endParaRPr lang="en-US" sz="4000" dirty="0"/>
          </a:p>
        </p:txBody>
      </p:sp>
      <p:sp>
        <p:nvSpPr>
          <p:cNvPr id="6" name="stat-l-Lowest bus voltage (limit 0.95 pu)"/>
          <p:cNvSpPr txBox="1"/>
          <p:nvPr/>
        </p:nvSpPr>
        <p:spPr>
          <a:xfrm>
            <a:off x="6995160" y="2286000"/>
            <a:ext cx="4389120" cy="457200"/>
          </a:xfrm>
          <a:prstGeom prst="rect">
            <a:avLst/>
          </a:prstGeom>
          <a:noFill/>
          <a:ln/>
        </p:spPr>
        <p:txBody>
          <a:bodyPr wrap="square" lIns="0" tIns="0" rIns="0" bIns="0" rtlCol="0" anchor="ctr"/>
          <a:lstStyle/>
          <a:p>
            <a:pPr indent="0" marL="0">
              <a:buNone/>
            </a:pPr>
            <a:r>
              <a:rPr lang="en-US" sz="1300" dirty="0">
                <a:solidFill>
                  <a:schemeClr val="tx1"/>
                </a:solidFill>
              </a:rPr>
              <a:t>Lowest bus voltage (limit 0.95 pu)</a:t>
            </a:r>
            <a:endParaRPr lang="en-US" sz="1300" dirty="0"/>
          </a:p>
        </p:txBody>
      </p:sp>
      <p:sp>
        <p:nvSpPr>
          <p:cNvPr id="7" name="stat-bg-Transformer T0-12 loading (limit 100 %)"/>
          <p:cNvSpPr/>
          <p:nvPr/>
        </p:nvSpPr>
        <p:spPr>
          <a:xfrm>
            <a:off x="6766560" y="3017520"/>
            <a:ext cx="4846320" cy="1417320"/>
          </a:xfrm>
          <a:prstGeom prst="roundRect">
            <a:avLst>
              <a:gd name="adj" fmla="val 7742"/>
            </a:avLst>
          </a:prstGeom>
          <a:solidFill>
            <a:schemeClr val="bg2"/>
          </a:solidFill>
          <a:ln/>
        </p:spPr>
      </p:sp>
      <p:sp>
        <p:nvSpPr>
          <p:cNvPr id="8" name="stat-v-Transformer T0-12 loading (limit 100 %)"/>
          <p:cNvSpPr txBox="1"/>
          <p:nvPr/>
        </p:nvSpPr>
        <p:spPr>
          <a:xfrm>
            <a:off x="6995160" y="3127248"/>
            <a:ext cx="4389120" cy="777240"/>
          </a:xfrm>
          <a:prstGeom prst="rect">
            <a:avLst/>
          </a:prstGeom>
          <a:noFill/>
          <a:ln/>
        </p:spPr>
        <p:txBody>
          <a:bodyPr wrap="square" lIns="0" tIns="0" rIns="0" bIns="0" rtlCol="0" anchor="ctr"/>
          <a:lstStyle/>
          <a:p>
            <a:pPr indent="0" marL="0">
              <a:buNone/>
            </a:pPr>
            <a:r>
              <a:rPr lang="en-US" sz="4000" b="1" dirty="0">
                <a:solidFill>
                  <a:schemeClr val="accent4"/>
                </a:solidFill>
              </a:rPr>
              <a:t>104.5 %</a:t>
            </a:r>
            <a:endParaRPr lang="en-US" sz="4000" dirty="0"/>
          </a:p>
        </p:txBody>
      </p:sp>
      <p:sp>
        <p:nvSpPr>
          <p:cNvPr id="9" name="stat-l-Transformer T0-12 loading (limit 100 %)"/>
          <p:cNvSpPr txBox="1"/>
          <p:nvPr/>
        </p:nvSpPr>
        <p:spPr>
          <a:xfrm>
            <a:off x="6995160" y="3886200"/>
            <a:ext cx="4389120" cy="457200"/>
          </a:xfrm>
          <a:prstGeom prst="rect">
            <a:avLst/>
          </a:prstGeom>
          <a:noFill/>
          <a:ln/>
        </p:spPr>
        <p:txBody>
          <a:bodyPr wrap="square" lIns="0" tIns="0" rIns="0" bIns="0" rtlCol="0" anchor="ctr"/>
          <a:lstStyle/>
          <a:p>
            <a:pPr indent="0" marL="0">
              <a:buNone/>
            </a:pPr>
            <a:r>
              <a:rPr lang="en-US" sz="1300" dirty="0">
                <a:solidFill>
                  <a:schemeClr val="tx1"/>
                </a:solidFill>
              </a:rPr>
              <a:t>Transformer T0-12 loading (limit 100 %)</a:t>
            </a:r>
            <a:endParaRPr lang="en-US" sz="1300" dirty="0"/>
          </a:p>
        </p:txBody>
      </p:sp>
      <p:sp>
        <p:nvSpPr>
          <p:cNvPr id="10" name="stat-bg-Violations at the evening peak"/>
          <p:cNvSpPr/>
          <p:nvPr/>
        </p:nvSpPr>
        <p:spPr>
          <a:xfrm>
            <a:off x="6766560" y="4617720"/>
            <a:ext cx="4846320" cy="1417320"/>
          </a:xfrm>
          <a:prstGeom prst="roundRect">
            <a:avLst>
              <a:gd name="adj" fmla="val 7742"/>
            </a:avLst>
          </a:prstGeom>
          <a:solidFill>
            <a:schemeClr val="bg2"/>
          </a:solidFill>
          <a:ln/>
        </p:spPr>
      </p:sp>
      <p:sp>
        <p:nvSpPr>
          <p:cNvPr id="11" name="stat-v-Violations at the evening peak"/>
          <p:cNvSpPr txBox="1"/>
          <p:nvPr/>
        </p:nvSpPr>
        <p:spPr>
          <a:xfrm>
            <a:off x="6995160" y="4727448"/>
            <a:ext cx="4389120" cy="777240"/>
          </a:xfrm>
          <a:prstGeom prst="rect">
            <a:avLst/>
          </a:prstGeom>
          <a:noFill/>
          <a:ln/>
        </p:spPr>
        <p:txBody>
          <a:bodyPr wrap="square" lIns="0" tIns="0" rIns="0" bIns="0" rtlCol="0" anchor="ctr"/>
          <a:lstStyle/>
          <a:p>
            <a:pPr indent="0" marL="0">
              <a:buNone/>
            </a:pPr>
            <a:r>
              <a:rPr lang="en-US" sz="4000" b="1" dirty="0">
                <a:solidFill>
                  <a:schemeClr val="accent1"/>
                </a:solidFill>
              </a:rPr>
              <a:t>17</a:t>
            </a:r>
            <a:endParaRPr lang="en-US" sz="4000" dirty="0"/>
          </a:p>
        </p:txBody>
      </p:sp>
      <p:sp>
        <p:nvSpPr>
          <p:cNvPr id="12" name="stat-l-Violations at the evening peak"/>
          <p:cNvSpPr txBox="1"/>
          <p:nvPr/>
        </p:nvSpPr>
        <p:spPr>
          <a:xfrm>
            <a:off x="6995160" y="5486400"/>
            <a:ext cx="4389120" cy="457200"/>
          </a:xfrm>
          <a:prstGeom prst="rect">
            <a:avLst/>
          </a:prstGeom>
          <a:noFill/>
          <a:ln/>
        </p:spPr>
        <p:txBody>
          <a:bodyPr wrap="square" lIns="0" tIns="0" rIns="0" bIns="0" rtlCol="0" anchor="ctr"/>
          <a:lstStyle/>
          <a:p>
            <a:pPr indent="0" marL="0">
              <a:buNone/>
            </a:pPr>
            <a:r>
              <a:rPr lang="en-US" sz="1300" dirty="0">
                <a:solidFill>
                  <a:schemeClr val="tx1"/>
                </a:solidFill>
              </a:rPr>
              <a:t>Violations at the evening peak</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One workflow from circuit model to verified fix</a:t>
            </a:r>
            <a:endParaRPr lang="en-US" sz="3200" dirty="0"/>
          </a:p>
        </p:txBody>
      </p:sp>
      <p:sp>
        <p:nvSpPr>
          <p:cNvPr id="3" name="dot-1-1.15"/>
          <p:cNvSpPr/>
          <p:nvPr/>
        </p:nvSpPr>
        <p:spPr>
          <a:xfrm>
            <a:off x="1051560" y="1737360"/>
            <a:ext cx="594360" cy="594360"/>
          </a:xfrm>
          <a:prstGeom prst="ellipse">
            <a:avLst/>
          </a:prstGeom>
          <a:solidFill>
            <a:schemeClr val="accent1"/>
          </a:solidFill>
          <a:ln/>
        </p:spPr>
      </p:sp>
      <p:sp>
        <p:nvSpPr>
          <p:cNvPr id="4" name="dotnum-1-1.15"/>
          <p:cNvSpPr txBox="1"/>
          <p:nvPr/>
        </p:nvSpPr>
        <p:spPr>
          <a:xfrm>
            <a:off x="1051560" y="17373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flow-0"/>
          <p:cNvSpPr/>
          <p:nvPr/>
        </p:nvSpPr>
        <p:spPr>
          <a:xfrm>
            <a:off x="1691640" y="2029968"/>
            <a:ext cx="914400" cy="0"/>
          </a:xfrm>
          <a:prstGeom prst="line">
            <a:avLst/>
          </a:prstGeom>
          <a:noFill/>
          <a:ln w="19050">
            <a:solidFill>
              <a:schemeClr val="accent1"/>
            </a:solidFill>
            <a:prstDash val="solid"/>
            <a:tailEnd type="triangle"/>
          </a:ln>
        </p:spPr>
      </p:sp>
      <p:sp>
        <p:nvSpPr>
          <p:cNvPr id="6" name="step-h-0"/>
          <p:cNvSpPr txBox="1"/>
          <p:nvPr/>
        </p:nvSpPr>
        <p:spPr>
          <a:xfrm>
            <a:off x="548640" y="2514600"/>
            <a:ext cx="1554480" cy="411480"/>
          </a:xfrm>
          <a:prstGeom prst="rect">
            <a:avLst/>
          </a:prstGeom>
          <a:noFill/>
          <a:ln/>
        </p:spPr>
        <p:txBody>
          <a:bodyPr wrap="square" lIns="0" tIns="0" rIns="0" bIns="0" rtlCol="0" anchor="ctr"/>
          <a:lstStyle/>
          <a:p>
            <a:pPr algn="ctr" indent="0" marL="0">
              <a:buNone/>
            </a:pPr>
            <a:r>
              <a:rPr lang="en-US" sz="1800" b="1" dirty="0">
                <a:solidFill>
                  <a:schemeClr val="tx2"/>
                </a:solidFill>
              </a:rPr>
              <a:t>Model</a:t>
            </a:r>
            <a:endParaRPr lang="en-US" sz="1800" dirty="0"/>
          </a:p>
        </p:txBody>
      </p:sp>
      <p:sp>
        <p:nvSpPr>
          <p:cNvPr id="7" name="step-b-0"/>
          <p:cNvSpPr txBox="1"/>
          <p:nvPr/>
        </p:nvSpPr>
        <p:spPr>
          <a:xfrm>
            <a:off x="594360" y="292608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75 components loaded and validated from MongoDB</a:t>
            </a:r>
            <a:endParaRPr lang="en-US" sz="1300" dirty="0"/>
          </a:p>
        </p:txBody>
      </p:sp>
      <p:sp>
        <p:nvSpPr>
          <p:cNvPr id="8" name="dot-2-2.9000000000000004"/>
          <p:cNvSpPr/>
          <p:nvPr/>
        </p:nvSpPr>
        <p:spPr>
          <a:xfrm>
            <a:off x="2651760" y="1737360"/>
            <a:ext cx="594360" cy="594360"/>
          </a:xfrm>
          <a:prstGeom prst="ellipse">
            <a:avLst/>
          </a:prstGeom>
          <a:solidFill>
            <a:schemeClr val="accent1"/>
          </a:solidFill>
          <a:ln/>
        </p:spPr>
      </p:sp>
      <p:sp>
        <p:nvSpPr>
          <p:cNvPr id="9" name="dotnum-2-2.9000000000000004"/>
          <p:cNvSpPr txBox="1"/>
          <p:nvPr/>
        </p:nvSpPr>
        <p:spPr>
          <a:xfrm>
            <a:off x="2651760" y="17373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flow-1"/>
          <p:cNvSpPr/>
          <p:nvPr/>
        </p:nvSpPr>
        <p:spPr>
          <a:xfrm>
            <a:off x="3291840" y="2029968"/>
            <a:ext cx="914400" cy="0"/>
          </a:xfrm>
          <a:prstGeom prst="line">
            <a:avLst/>
          </a:prstGeom>
          <a:noFill/>
          <a:ln w="19050">
            <a:solidFill>
              <a:schemeClr val="accent1"/>
            </a:solidFill>
            <a:prstDash val="solid"/>
            <a:tailEnd type="triangle"/>
          </a:ln>
        </p:spPr>
      </p:sp>
      <p:sp>
        <p:nvSpPr>
          <p:cNvPr id="11" name="step-h-1"/>
          <p:cNvSpPr txBox="1"/>
          <p:nvPr/>
        </p:nvSpPr>
        <p:spPr>
          <a:xfrm>
            <a:off x="2148840" y="2514600"/>
            <a:ext cx="1554480" cy="411480"/>
          </a:xfrm>
          <a:prstGeom prst="rect">
            <a:avLst/>
          </a:prstGeom>
          <a:noFill/>
          <a:ln/>
        </p:spPr>
        <p:txBody>
          <a:bodyPr wrap="square" lIns="0" tIns="0" rIns="0" bIns="0" rtlCol="0" anchor="ctr"/>
          <a:lstStyle/>
          <a:p>
            <a:pPr algn="ctr" indent="0" marL="0">
              <a:buNone/>
            </a:pPr>
            <a:r>
              <a:rPr lang="en-US" sz="1800" b="1" dirty="0">
                <a:solidFill>
                  <a:schemeClr val="tx2"/>
                </a:solidFill>
              </a:rPr>
              <a:t>Solve</a:t>
            </a:r>
            <a:endParaRPr lang="en-US" sz="1800" dirty="0"/>
          </a:p>
        </p:txBody>
      </p:sp>
      <p:sp>
        <p:nvSpPr>
          <p:cNvPr id="12" name="step-b-1"/>
          <p:cNvSpPr txBox="1"/>
          <p:nvPr/>
        </p:nvSpPr>
        <p:spPr>
          <a:xfrm>
            <a:off x="2194560" y="292608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AC Newton-Raphson power flow</a:t>
            </a:r>
            <a:endParaRPr lang="en-US" sz="1300" dirty="0"/>
          </a:p>
        </p:txBody>
      </p:sp>
      <p:sp>
        <p:nvSpPr>
          <p:cNvPr id="13" name="dot-3-4.6499999999999995"/>
          <p:cNvSpPr/>
          <p:nvPr/>
        </p:nvSpPr>
        <p:spPr>
          <a:xfrm>
            <a:off x="4251960" y="1737360"/>
            <a:ext cx="594360" cy="594360"/>
          </a:xfrm>
          <a:prstGeom prst="ellipse">
            <a:avLst/>
          </a:prstGeom>
          <a:solidFill>
            <a:schemeClr val="accent1"/>
          </a:solidFill>
          <a:ln/>
        </p:spPr>
      </p:sp>
      <p:sp>
        <p:nvSpPr>
          <p:cNvPr id="14" name="dotnum-3-4.6499999999999995"/>
          <p:cNvSpPr txBox="1"/>
          <p:nvPr/>
        </p:nvSpPr>
        <p:spPr>
          <a:xfrm>
            <a:off x="4251960" y="17373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flow-2"/>
          <p:cNvSpPr/>
          <p:nvPr/>
        </p:nvSpPr>
        <p:spPr>
          <a:xfrm>
            <a:off x="4892040" y="2029968"/>
            <a:ext cx="914400" cy="0"/>
          </a:xfrm>
          <a:prstGeom prst="line">
            <a:avLst/>
          </a:prstGeom>
          <a:noFill/>
          <a:ln w="19050">
            <a:solidFill>
              <a:schemeClr val="accent1"/>
            </a:solidFill>
            <a:prstDash val="solid"/>
            <a:tailEnd type="triangle"/>
          </a:ln>
        </p:spPr>
      </p:sp>
      <p:sp>
        <p:nvSpPr>
          <p:cNvPr id="16" name="step-h-2"/>
          <p:cNvSpPr txBox="1"/>
          <p:nvPr/>
        </p:nvSpPr>
        <p:spPr>
          <a:xfrm>
            <a:off x="3749040" y="2514600"/>
            <a:ext cx="1554480" cy="411480"/>
          </a:xfrm>
          <a:prstGeom prst="rect">
            <a:avLst/>
          </a:prstGeom>
          <a:noFill/>
          <a:ln/>
        </p:spPr>
        <p:txBody>
          <a:bodyPr wrap="square" lIns="0" tIns="0" rIns="0" bIns="0" rtlCol="0" anchor="ctr"/>
          <a:lstStyle/>
          <a:p>
            <a:pPr algn="ctr" indent="0" marL="0">
              <a:buNone/>
            </a:pPr>
            <a:r>
              <a:rPr lang="en-US" sz="1800" b="1" dirty="0">
                <a:solidFill>
                  <a:schemeClr val="tx2"/>
                </a:solidFill>
              </a:rPr>
              <a:t>Detect</a:t>
            </a:r>
            <a:endParaRPr lang="en-US" sz="1800" dirty="0"/>
          </a:p>
        </p:txBody>
      </p:sp>
      <p:sp>
        <p:nvSpPr>
          <p:cNvPr id="17" name="step-b-2"/>
          <p:cNvSpPr txBox="1"/>
          <p:nvPr/>
        </p:nvSpPr>
        <p:spPr>
          <a:xfrm>
            <a:off x="3794760" y="292608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Every limit at peak and light load</a:t>
            </a:r>
            <a:endParaRPr lang="en-US" sz="1300" dirty="0"/>
          </a:p>
        </p:txBody>
      </p:sp>
      <p:sp>
        <p:nvSpPr>
          <p:cNvPr id="18" name="dot-4-6.3999999999999995"/>
          <p:cNvSpPr/>
          <p:nvPr/>
        </p:nvSpPr>
        <p:spPr>
          <a:xfrm>
            <a:off x="5852160" y="1737360"/>
            <a:ext cx="594360" cy="594360"/>
          </a:xfrm>
          <a:prstGeom prst="ellipse">
            <a:avLst/>
          </a:prstGeom>
          <a:solidFill>
            <a:schemeClr val="accent1"/>
          </a:solidFill>
          <a:ln/>
        </p:spPr>
      </p:sp>
      <p:sp>
        <p:nvSpPr>
          <p:cNvPr id="19" name="dotnum-4-6.3999999999999995"/>
          <p:cNvSpPr txBox="1"/>
          <p:nvPr/>
        </p:nvSpPr>
        <p:spPr>
          <a:xfrm>
            <a:off x="5852160" y="17373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flow-3"/>
          <p:cNvSpPr/>
          <p:nvPr/>
        </p:nvSpPr>
        <p:spPr>
          <a:xfrm>
            <a:off x="6492240" y="2029968"/>
            <a:ext cx="914400" cy="0"/>
          </a:xfrm>
          <a:prstGeom prst="line">
            <a:avLst/>
          </a:prstGeom>
          <a:noFill/>
          <a:ln w="19050">
            <a:solidFill>
              <a:schemeClr val="accent1"/>
            </a:solidFill>
            <a:prstDash val="solid"/>
            <a:tailEnd type="triangle"/>
          </a:ln>
        </p:spPr>
      </p:sp>
      <p:sp>
        <p:nvSpPr>
          <p:cNvPr id="21" name="step-h-3"/>
          <p:cNvSpPr txBox="1"/>
          <p:nvPr/>
        </p:nvSpPr>
        <p:spPr>
          <a:xfrm>
            <a:off x="5349240" y="2514600"/>
            <a:ext cx="1554480" cy="411480"/>
          </a:xfrm>
          <a:prstGeom prst="rect">
            <a:avLst/>
          </a:prstGeom>
          <a:noFill/>
          <a:ln/>
        </p:spPr>
        <p:txBody>
          <a:bodyPr wrap="square" lIns="0" tIns="0" rIns="0" bIns="0" rtlCol="0" anchor="ctr"/>
          <a:lstStyle/>
          <a:p>
            <a:pPr algn="ctr" indent="0" marL="0">
              <a:buNone/>
            </a:pPr>
            <a:r>
              <a:rPr lang="en-US" sz="1800" b="1" dirty="0">
                <a:solidFill>
                  <a:schemeClr val="tx2"/>
                </a:solidFill>
              </a:rPr>
              <a:t>Diagnose</a:t>
            </a:r>
            <a:endParaRPr lang="en-US" sz="1800" dirty="0"/>
          </a:p>
        </p:txBody>
      </p:sp>
      <p:sp>
        <p:nvSpPr>
          <p:cNvPr id="22" name="step-b-3"/>
          <p:cNvSpPr txBox="1"/>
          <p:nvPr/>
        </p:nvSpPr>
        <p:spPr>
          <a:xfrm>
            <a:off x="5394960" y="292608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Path voltage-drop split and counterfactuals</a:t>
            </a:r>
            <a:endParaRPr lang="en-US" sz="1300" dirty="0"/>
          </a:p>
        </p:txBody>
      </p:sp>
      <p:sp>
        <p:nvSpPr>
          <p:cNvPr id="23" name="dot-5-8.15"/>
          <p:cNvSpPr/>
          <p:nvPr/>
        </p:nvSpPr>
        <p:spPr>
          <a:xfrm>
            <a:off x="7452360" y="1737360"/>
            <a:ext cx="594360" cy="594360"/>
          </a:xfrm>
          <a:prstGeom prst="ellipse">
            <a:avLst/>
          </a:prstGeom>
          <a:solidFill>
            <a:schemeClr val="accent1"/>
          </a:solidFill>
          <a:ln/>
        </p:spPr>
      </p:sp>
      <p:sp>
        <p:nvSpPr>
          <p:cNvPr id="24" name="dotnum-5-8.15"/>
          <p:cNvSpPr txBox="1"/>
          <p:nvPr/>
        </p:nvSpPr>
        <p:spPr>
          <a:xfrm>
            <a:off x="7452360" y="17373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5" name="flow-4"/>
          <p:cNvSpPr/>
          <p:nvPr/>
        </p:nvSpPr>
        <p:spPr>
          <a:xfrm>
            <a:off x="8092440" y="2029968"/>
            <a:ext cx="914400" cy="0"/>
          </a:xfrm>
          <a:prstGeom prst="line">
            <a:avLst/>
          </a:prstGeom>
          <a:noFill/>
          <a:ln w="19050">
            <a:solidFill>
              <a:schemeClr val="accent1"/>
            </a:solidFill>
            <a:prstDash val="solid"/>
            <a:tailEnd type="triangle"/>
          </a:ln>
        </p:spPr>
      </p:sp>
      <p:sp>
        <p:nvSpPr>
          <p:cNvPr id="26" name="step-h-4"/>
          <p:cNvSpPr txBox="1"/>
          <p:nvPr/>
        </p:nvSpPr>
        <p:spPr>
          <a:xfrm>
            <a:off x="6949440" y="2514600"/>
            <a:ext cx="1554480" cy="411480"/>
          </a:xfrm>
          <a:prstGeom prst="rect">
            <a:avLst/>
          </a:prstGeom>
          <a:noFill/>
          <a:ln/>
        </p:spPr>
        <p:txBody>
          <a:bodyPr wrap="square" lIns="0" tIns="0" rIns="0" bIns="0" rtlCol="0" anchor="ctr"/>
          <a:lstStyle/>
          <a:p>
            <a:pPr algn="ctr" indent="0" marL="0">
              <a:buNone/>
            </a:pPr>
            <a:r>
              <a:rPr lang="en-US" sz="1800" b="1" dirty="0">
                <a:solidFill>
                  <a:schemeClr val="tx2"/>
                </a:solidFill>
              </a:rPr>
              <a:t>Correct</a:t>
            </a:r>
            <a:endParaRPr lang="en-US" sz="1800" dirty="0"/>
          </a:p>
        </p:txBody>
      </p:sp>
      <p:sp>
        <p:nvSpPr>
          <p:cNvPr id="27" name="step-b-4"/>
          <p:cNvSpPr txBox="1"/>
          <p:nvPr/>
        </p:nvSpPr>
        <p:spPr>
          <a:xfrm>
            <a:off x="6995160" y="292608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Remedies sized by simulation, ranked by cost</a:t>
            </a:r>
            <a:endParaRPr lang="en-US" sz="1300" dirty="0"/>
          </a:p>
        </p:txBody>
      </p:sp>
      <p:sp>
        <p:nvSpPr>
          <p:cNvPr id="28" name="dot-6-9.9"/>
          <p:cNvSpPr/>
          <p:nvPr/>
        </p:nvSpPr>
        <p:spPr>
          <a:xfrm>
            <a:off x="9052560" y="1737360"/>
            <a:ext cx="594360" cy="594360"/>
          </a:xfrm>
          <a:prstGeom prst="ellipse">
            <a:avLst/>
          </a:prstGeom>
          <a:solidFill>
            <a:schemeClr val="accent3"/>
          </a:solidFill>
          <a:ln/>
        </p:spPr>
      </p:sp>
      <p:sp>
        <p:nvSpPr>
          <p:cNvPr id="29" name="dotnum-6-9.9"/>
          <p:cNvSpPr txBox="1"/>
          <p:nvPr/>
        </p:nvSpPr>
        <p:spPr>
          <a:xfrm>
            <a:off x="9052560" y="17373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0" name="flow-5"/>
          <p:cNvSpPr/>
          <p:nvPr/>
        </p:nvSpPr>
        <p:spPr>
          <a:xfrm>
            <a:off x="9692640" y="2029968"/>
            <a:ext cx="914400" cy="0"/>
          </a:xfrm>
          <a:prstGeom prst="line">
            <a:avLst/>
          </a:prstGeom>
          <a:noFill/>
          <a:ln w="19050">
            <a:solidFill>
              <a:schemeClr val="accent1"/>
            </a:solidFill>
            <a:prstDash val="solid"/>
            <a:tailEnd type="triangle"/>
          </a:ln>
        </p:spPr>
      </p:sp>
      <p:sp>
        <p:nvSpPr>
          <p:cNvPr id="31" name="step-h-5"/>
          <p:cNvSpPr txBox="1"/>
          <p:nvPr/>
        </p:nvSpPr>
        <p:spPr>
          <a:xfrm>
            <a:off x="8549640" y="2514600"/>
            <a:ext cx="1554480" cy="411480"/>
          </a:xfrm>
          <a:prstGeom prst="rect">
            <a:avLst/>
          </a:prstGeom>
          <a:noFill/>
          <a:ln/>
        </p:spPr>
        <p:txBody>
          <a:bodyPr wrap="square" lIns="0" tIns="0" rIns="0" bIns="0" rtlCol="0" anchor="ctr"/>
          <a:lstStyle/>
          <a:p>
            <a:pPr algn="ctr" indent="0" marL="0">
              <a:buNone/>
            </a:pPr>
            <a:r>
              <a:rPr lang="en-US" sz="1800" b="1" dirty="0">
                <a:solidFill>
                  <a:schemeClr val="tx2"/>
                </a:solidFill>
              </a:rPr>
              <a:t>Verify</a:t>
            </a:r>
            <a:endParaRPr lang="en-US" sz="1800" dirty="0"/>
          </a:p>
        </p:txBody>
      </p:sp>
      <p:sp>
        <p:nvSpPr>
          <p:cNvPr id="32" name="step-b-5"/>
          <p:cNvSpPr txBox="1"/>
          <p:nvPr/>
        </p:nvSpPr>
        <p:spPr>
          <a:xfrm>
            <a:off x="8595360" y="292608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Re-solved independently from the database</a:t>
            </a:r>
            <a:endParaRPr lang="en-US" sz="1300" dirty="0"/>
          </a:p>
        </p:txBody>
      </p:sp>
      <p:sp>
        <p:nvSpPr>
          <p:cNvPr id="33" name="dot-7-11.65"/>
          <p:cNvSpPr/>
          <p:nvPr/>
        </p:nvSpPr>
        <p:spPr>
          <a:xfrm>
            <a:off x="10652760" y="1737360"/>
            <a:ext cx="594360" cy="594360"/>
          </a:xfrm>
          <a:prstGeom prst="ellipse">
            <a:avLst/>
          </a:prstGeom>
          <a:solidFill>
            <a:schemeClr val="accent1"/>
          </a:solidFill>
          <a:ln/>
        </p:spPr>
      </p:sp>
      <p:sp>
        <p:nvSpPr>
          <p:cNvPr id="34" name="dotnum-7-11.65"/>
          <p:cNvSpPr txBox="1"/>
          <p:nvPr/>
        </p:nvSpPr>
        <p:spPr>
          <a:xfrm>
            <a:off x="10652760" y="173736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5" name="step-h-6"/>
          <p:cNvSpPr txBox="1"/>
          <p:nvPr/>
        </p:nvSpPr>
        <p:spPr>
          <a:xfrm>
            <a:off x="10149840" y="2514600"/>
            <a:ext cx="1554480" cy="411480"/>
          </a:xfrm>
          <a:prstGeom prst="rect">
            <a:avLst/>
          </a:prstGeom>
          <a:noFill/>
          <a:ln/>
        </p:spPr>
        <p:txBody>
          <a:bodyPr wrap="square" lIns="0" tIns="0" rIns="0" bIns="0" rtlCol="0" anchor="ctr"/>
          <a:lstStyle/>
          <a:p>
            <a:pPr algn="ctr" indent="0" marL="0">
              <a:buNone/>
            </a:pPr>
            <a:r>
              <a:rPr lang="en-US" sz="1800" b="1" dirty="0">
                <a:solidFill>
                  <a:schemeClr val="tx2"/>
                </a:solidFill>
              </a:rPr>
              <a:t>Learn</a:t>
            </a:r>
            <a:endParaRPr lang="en-US" sz="1800" dirty="0"/>
          </a:p>
        </p:txBody>
      </p:sp>
      <p:sp>
        <p:nvSpPr>
          <p:cNvPr id="36" name="step-b-6"/>
          <p:cNvSpPr txBox="1"/>
          <p:nvPr/>
        </p:nvSpPr>
        <p:spPr>
          <a:xfrm>
            <a:off x="10195560" y="2926080"/>
            <a:ext cx="1463040" cy="1097280"/>
          </a:xfrm>
          <a:prstGeom prst="rect">
            <a:avLst/>
          </a:prstGeom>
          <a:noFill/>
          <a:ln/>
        </p:spPr>
        <p:txBody>
          <a:bodyPr wrap="square" lIns="0" tIns="0" rIns="0" bIns="0" rtlCol="0" anchor="t"/>
          <a:lstStyle/>
          <a:p>
            <a:pPr algn="ctr" indent="0" marL="0">
              <a:buNone/>
            </a:pPr>
            <a:r>
              <a:rPr lang="en-US" sz="1300" dirty="0">
                <a:solidFill>
                  <a:schemeClr val="tx1"/>
                </a:solidFill>
              </a:rPr>
              <a:t>Verified lessons reused in the next run</a:t>
            </a:r>
            <a:endParaRPr lang="en-US" sz="1300" dirty="0"/>
          </a:p>
        </p:txBody>
      </p:sp>
      <p:sp>
        <p:nvSpPr>
          <p:cNvPr id="37" name="principle-bg"/>
          <p:cNvSpPr/>
          <p:nvPr/>
        </p:nvSpPr>
        <p:spPr>
          <a:xfrm>
            <a:off x="548640" y="4572000"/>
            <a:ext cx="11064240" cy="1234440"/>
          </a:xfrm>
          <a:prstGeom prst="roundRect">
            <a:avLst>
              <a:gd name="adj" fmla="val 8889"/>
            </a:avLst>
          </a:prstGeom>
          <a:solidFill>
            <a:schemeClr val="bg2"/>
          </a:solidFill>
          <a:ln/>
        </p:spPr>
      </p:sp>
      <p:sp>
        <p:nvSpPr>
          <p:cNvPr id="38" name="principle"/>
          <p:cNvSpPr txBox="1"/>
          <p:nvPr/>
        </p:nvSpPr>
        <p:spPr>
          <a:xfrm>
            <a:off x="822960" y="4663440"/>
            <a:ext cx="10515600" cy="1051560"/>
          </a:xfrm>
          <a:prstGeom prst="rect">
            <a:avLst/>
          </a:prstGeom>
          <a:noFill/>
          <a:ln/>
        </p:spPr>
        <p:txBody>
          <a:bodyPr wrap="square" lIns="0" tIns="0" rIns="0" bIns="0" rtlCol="0" anchor="ctr"/>
          <a:lstStyle/>
          <a:p>
            <a:pPr indent="0" marL="0">
              <a:buNone/>
            </a:pPr>
            <a:r>
              <a:rPr lang="en-US" sz="1600" b="1" dirty="0">
                <a:solidFill>
                  <a:schemeClr val="accent1"/>
                </a:solidFill>
              </a:rPr>
              <a:t>Design principle  </a:t>
            </a:r>
            <a:pPr indent="0" marL="0">
              <a:buNone/>
            </a:pPr>
            <a:r>
              <a:rPr lang="en-US" sz="1600" dirty="0">
                <a:solidFill>
                  <a:schemeClr val="tx1"/>
                </a:solidFill>
              </a:rPr>
              <a:t>the language model never calculates electrical values. Voltages, currents, loadings and losses always come from the power-flow solver; Claude explains evidence through read-only tools. Nothing is applied to real equipment without engineer approval.</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Architecture: solver-grounded agents on MongoDB Atlas</a:t>
            </a:r>
            <a:endParaRPr lang="en-US" sz="3200" dirty="0"/>
          </a:p>
        </p:txBody>
      </p:sp>
      <p:sp>
        <p:nvSpPr>
          <p:cNvPr id="3" name="layer-0"/>
          <p:cNvSpPr/>
          <p:nvPr/>
        </p:nvSpPr>
        <p:spPr>
          <a:xfrm>
            <a:off x="548640" y="1371600"/>
            <a:ext cx="11064240" cy="822960"/>
          </a:xfrm>
          <a:prstGeom prst="roundRect">
            <a:avLst>
              <a:gd name="adj" fmla="val 11111"/>
            </a:avLst>
          </a:prstGeom>
          <a:solidFill>
            <a:schemeClr val="bg2"/>
          </a:solidFill>
          <a:ln/>
        </p:spPr>
      </p:sp>
      <p:sp>
        <p:nvSpPr>
          <p:cNvPr id="4" name="layer-n-0"/>
          <p:cNvSpPr txBox="1"/>
          <p:nvPr/>
        </p:nvSpPr>
        <p:spPr>
          <a:xfrm>
            <a:off x="822960" y="1371600"/>
            <a:ext cx="2377440" cy="822960"/>
          </a:xfrm>
          <a:prstGeom prst="rect">
            <a:avLst/>
          </a:prstGeom>
          <a:noFill/>
          <a:ln/>
        </p:spPr>
        <p:txBody>
          <a:bodyPr wrap="square" lIns="0" tIns="0" rIns="0" bIns="0" rtlCol="0" anchor="ctr"/>
          <a:lstStyle/>
          <a:p>
            <a:pPr indent="0" marL="0">
              <a:buNone/>
            </a:pPr>
            <a:r>
              <a:rPr lang="en-US" sz="1800" b="1" dirty="0">
                <a:solidFill>
                  <a:schemeClr val="tx2"/>
                </a:solidFill>
              </a:rPr>
              <a:t>Web interface</a:t>
            </a:r>
            <a:endParaRPr lang="en-US" sz="1800" dirty="0"/>
          </a:p>
        </p:txBody>
      </p:sp>
      <p:sp>
        <p:nvSpPr>
          <p:cNvPr id="5" name="layer-t-0"/>
          <p:cNvSpPr txBox="1"/>
          <p:nvPr/>
        </p:nvSpPr>
        <p:spPr>
          <a:xfrm>
            <a:off x="3200400" y="1371600"/>
            <a:ext cx="3657600" cy="822960"/>
          </a:xfrm>
          <a:prstGeom prst="rect">
            <a:avLst/>
          </a:prstGeom>
          <a:noFill/>
          <a:ln/>
        </p:spPr>
        <p:txBody>
          <a:bodyPr wrap="square" lIns="0" tIns="0" rIns="0" bIns="0" rtlCol="0" anchor="ctr"/>
          <a:lstStyle/>
          <a:p>
            <a:pPr indent="0" marL="0">
              <a:buNone/>
            </a:pPr>
            <a:r>
              <a:rPr lang="en-US" sz="1400" dirty="0">
                <a:solidFill>
                  <a:schemeClr val="accent1"/>
                </a:solidFill>
              </a:rPr>
              <a:t>React · TypeScript · React Flow · Recharts</a:t>
            </a:r>
            <a:endParaRPr lang="en-US" sz="1400" dirty="0"/>
          </a:p>
        </p:txBody>
      </p:sp>
      <p:sp>
        <p:nvSpPr>
          <p:cNvPr id="6" name="layer-r-0"/>
          <p:cNvSpPr txBox="1"/>
          <p:nvPr/>
        </p:nvSpPr>
        <p:spPr>
          <a:xfrm>
            <a:off x="6949440" y="1371600"/>
            <a:ext cx="4480560" cy="822960"/>
          </a:xfrm>
          <a:prstGeom prst="rect">
            <a:avLst/>
          </a:prstGeom>
          <a:noFill/>
          <a:ln/>
        </p:spPr>
        <p:txBody>
          <a:bodyPr wrap="square" lIns="0" tIns="0" rIns="0" bIns="0" rtlCol="0" anchor="ctr"/>
          <a:lstStyle/>
          <a:p>
            <a:pPr indent="0" marL="0">
              <a:buNone/>
            </a:pPr>
            <a:r>
              <a:rPr lang="en-US" sz="1400" dirty="0">
                <a:solidFill>
                  <a:schemeClr val="tx1"/>
                </a:solidFill>
              </a:rPr>
              <a:t>12 pages; interactive single-line diagram; live agent view</a:t>
            </a:r>
            <a:endParaRPr lang="en-US" sz="1400" dirty="0"/>
          </a:p>
        </p:txBody>
      </p:sp>
      <p:sp>
        <p:nvSpPr>
          <p:cNvPr id="7" name="layer-1"/>
          <p:cNvSpPr/>
          <p:nvPr/>
        </p:nvSpPr>
        <p:spPr>
          <a:xfrm>
            <a:off x="548640" y="2350008"/>
            <a:ext cx="11064240" cy="822960"/>
          </a:xfrm>
          <a:prstGeom prst="roundRect">
            <a:avLst>
              <a:gd name="adj" fmla="val 11111"/>
            </a:avLst>
          </a:prstGeom>
          <a:solidFill>
            <a:schemeClr val="bg2"/>
          </a:solidFill>
          <a:ln/>
        </p:spPr>
      </p:sp>
      <p:sp>
        <p:nvSpPr>
          <p:cNvPr id="8" name="layer-n-1"/>
          <p:cNvSpPr txBox="1"/>
          <p:nvPr/>
        </p:nvSpPr>
        <p:spPr>
          <a:xfrm>
            <a:off x="822960" y="2350008"/>
            <a:ext cx="2377440" cy="822960"/>
          </a:xfrm>
          <a:prstGeom prst="rect">
            <a:avLst/>
          </a:prstGeom>
          <a:noFill/>
          <a:ln/>
        </p:spPr>
        <p:txBody>
          <a:bodyPr wrap="square" lIns="0" tIns="0" rIns="0" bIns="0" rtlCol="0" anchor="ctr"/>
          <a:lstStyle/>
          <a:p>
            <a:pPr indent="0" marL="0">
              <a:buNone/>
            </a:pPr>
            <a:r>
              <a:rPr lang="en-US" sz="1800" b="1" dirty="0">
                <a:solidFill>
                  <a:schemeClr val="tx2"/>
                </a:solidFill>
              </a:rPr>
              <a:t>REST API</a:t>
            </a:r>
            <a:endParaRPr lang="en-US" sz="1800" dirty="0"/>
          </a:p>
        </p:txBody>
      </p:sp>
      <p:sp>
        <p:nvSpPr>
          <p:cNvPr id="9" name="layer-t-1"/>
          <p:cNvSpPr txBox="1"/>
          <p:nvPr/>
        </p:nvSpPr>
        <p:spPr>
          <a:xfrm>
            <a:off x="3200400" y="2350008"/>
            <a:ext cx="3657600" cy="822960"/>
          </a:xfrm>
          <a:prstGeom prst="rect">
            <a:avLst/>
          </a:prstGeom>
          <a:noFill/>
          <a:ln/>
        </p:spPr>
        <p:txBody>
          <a:bodyPr wrap="square" lIns="0" tIns="0" rIns="0" bIns="0" rtlCol="0" anchor="ctr"/>
          <a:lstStyle/>
          <a:p>
            <a:pPr indent="0" marL="0">
              <a:buNone/>
            </a:pPr>
            <a:r>
              <a:rPr lang="en-US" sz="1400" dirty="0">
                <a:solidFill>
                  <a:schemeClr val="accent1"/>
                </a:solidFill>
              </a:rPr>
              <a:t>FastAPI · Pydantic</a:t>
            </a:r>
            <a:endParaRPr lang="en-US" sz="1400" dirty="0"/>
          </a:p>
        </p:txBody>
      </p:sp>
      <p:sp>
        <p:nvSpPr>
          <p:cNvPr id="10" name="layer-r-1"/>
          <p:cNvSpPr txBox="1"/>
          <p:nvPr/>
        </p:nvSpPr>
        <p:spPr>
          <a:xfrm>
            <a:off x="6949440" y="2350008"/>
            <a:ext cx="4480560" cy="822960"/>
          </a:xfrm>
          <a:prstGeom prst="rect">
            <a:avLst/>
          </a:prstGeom>
          <a:noFill/>
          <a:ln/>
        </p:spPr>
        <p:txBody>
          <a:bodyPr wrap="square" lIns="0" tIns="0" rIns="0" bIns="0" rtlCol="0" anchor="ctr"/>
          <a:lstStyle/>
          <a:p>
            <a:pPr indent="0" marL="0">
              <a:buNone/>
            </a:pPr>
            <a:r>
              <a:rPr lang="en-US" sz="1400" dirty="0">
                <a:solidFill>
                  <a:schemeClr val="tx1"/>
                </a:solidFill>
              </a:rPr>
              <a:t>Validates every input; thin routes over a repository layer</a:t>
            </a:r>
            <a:endParaRPr lang="en-US" sz="1400" dirty="0"/>
          </a:p>
        </p:txBody>
      </p:sp>
      <p:sp>
        <p:nvSpPr>
          <p:cNvPr id="11" name="layer-2"/>
          <p:cNvSpPr/>
          <p:nvPr/>
        </p:nvSpPr>
        <p:spPr>
          <a:xfrm>
            <a:off x="548640" y="3328416"/>
            <a:ext cx="11064240" cy="822960"/>
          </a:xfrm>
          <a:prstGeom prst="roundRect">
            <a:avLst>
              <a:gd name="adj" fmla="val 11111"/>
            </a:avLst>
          </a:prstGeom>
          <a:solidFill>
            <a:schemeClr val="bg2"/>
          </a:solidFill>
          <a:ln/>
        </p:spPr>
      </p:sp>
      <p:sp>
        <p:nvSpPr>
          <p:cNvPr id="12" name="layer-n-2"/>
          <p:cNvSpPr txBox="1"/>
          <p:nvPr/>
        </p:nvSpPr>
        <p:spPr>
          <a:xfrm>
            <a:off x="822960" y="3328416"/>
            <a:ext cx="2377440" cy="822960"/>
          </a:xfrm>
          <a:prstGeom prst="rect">
            <a:avLst/>
          </a:prstGeom>
          <a:noFill/>
          <a:ln/>
        </p:spPr>
        <p:txBody>
          <a:bodyPr wrap="square" lIns="0" tIns="0" rIns="0" bIns="0" rtlCol="0" anchor="ctr"/>
          <a:lstStyle/>
          <a:p>
            <a:pPr indent="0" marL="0">
              <a:buNone/>
            </a:pPr>
            <a:r>
              <a:rPr lang="en-US" sz="1800" b="1" dirty="0">
                <a:solidFill>
                  <a:schemeClr val="tx2"/>
                </a:solidFill>
              </a:rPr>
              <a:t>Electrical engine</a:t>
            </a:r>
            <a:endParaRPr lang="en-US" sz="1800" dirty="0"/>
          </a:p>
        </p:txBody>
      </p:sp>
      <p:sp>
        <p:nvSpPr>
          <p:cNvPr id="13" name="layer-t-2"/>
          <p:cNvSpPr txBox="1"/>
          <p:nvPr/>
        </p:nvSpPr>
        <p:spPr>
          <a:xfrm>
            <a:off x="3200400" y="3328416"/>
            <a:ext cx="3657600" cy="822960"/>
          </a:xfrm>
          <a:prstGeom prst="rect">
            <a:avLst/>
          </a:prstGeom>
          <a:noFill/>
          <a:ln/>
        </p:spPr>
        <p:txBody>
          <a:bodyPr wrap="square" lIns="0" tIns="0" rIns="0" bIns="0" rtlCol="0" anchor="ctr"/>
          <a:lstStyle/>
          <a:p>
            <a:pPr indent="0" marL="0">
              <a:buNone/>
            </a:pPr>
            <a:r>
              <a:rPr lang="en-US" sz="1400" dirty="0">
                <a:solidFill>
                  <a:schemeClr val="accent1"/>
                </a:solidFill>
              </a:rPr>
              <a:t>pandapower AC NR · SciPy HiGHS LP</a:t>
            </a:r>
            <a:endParaRPr lang="en-US" sz="1400" dirty="0"/>
          </a:p>
        </p:txBody>
      </p:sp>
      <p:sp>
        <p:nvSpPr>
          <p:cNvPr id="14" name="layer-r-2"/>
          <p:cNvSpPr txBox="1"/>
          <p:nvPr/>
        </p:nvSpPr>
        <p:spPr>
          <a:xfrm>
            <a:off x="6949440" y="3328416"/>
            <a:ext cx="4480560" cy="822960"/>
          </a:xfrm>
          <a:prstGeom prst="rect">
            <a:avLst/>
          </a:prstGeom>
          <a:noFill/>
          <a:ln/>
        </p:spPr>
        <p:txBody>
          <a:bodyPr wrap="square" lIns="0" tIns="0" rIns="0" bIns="0" rtlCol="0" anchor="ctr"/>
          <a:lstStyle/>
          <a:p>
            <a:pPr indent="0" marL="0">
              <a:buNone/>
            </a:pPr>
            <a:r>
              <a:rPr lang="en-US" sz="1400" dirty="0">
                <a:solidFill>
                  <a:schemeClr val="tx1"/>
                </a:solidFill>
              </a:rPr>
              <a:t>Power flow, violations, sizing, beam-search optimisation, 24 h time series</a:t>
            </a:r>
            <a:endParaRPr lang="en-US" sz="1400" dirty="0"/>
          </a:p>
        </p:txBody>
      </p:sp>
      <p:sp>
        <p:nvSpPr>
          <p:cNvPr id="15" name="layer-3"/>
          <p:cNvSpPr/>
          <p:nvPr/>
        </p:nvSpPr>
        <p:spPr>
          <a:xfrm>
            <a:off x="548640" y="4306824"/>
            <a:ext cx="11064240" cy="822960"/>
          </a:xfrm>
          <a:prstGeom prst="roundRect">
            <a:avLst>
              <a:gd name="adj" fmla="val 11111"/>
            </a:avLst>
          </a:prstGeom>
          <a:solidFill>
            <a:schemeClr val="bg2"/>
          </a:solidFill>
          <a:ln/>
        </p:spPr>
      </p:sp>
      <p:sp>
        <p:nvSpPr>
          <p:cNvPr id="16" name="layer-n-3"/>
          <p:cNvSpPr txBox="1"/>
          <p:nvPr/>
        </p:nvSpPr>
        <p:spPr>
          <a:xfrm>
            <a:off x="822960" y="4306824"/>
            <a:ext cx="2377440" cy="822960"/>
          </a:xfrm>
          <a:prstGeom prst="rect">
            <a:avLst/>
          </a:prstGeom>
          <a:noFill/>
          <a:ln/>
        </p:spPr>
        <p:txBody>
          <a:bodyPr wrap="square" lIns="0" tIns="0" rIns="0" bIns="0" rtlCol="0" anchor="ctr"/>
          <a:lstStyle/>
          <a:p>
            <a:pPr indent="0" marL="0">
              <a:buNone/>
            </a:pPr>
            <a:r>
              <a:rPr lang="en-US" sz="1800" b="1" dirty="0">
                <a:solidFill>
                  <a:schemeClr val="tx2"/>
                </a:solidFill>
              </a:rPr>
              <a:t>Agents</a:t>
            </a:r>
            <a:endParaRPr lang="en-US" sz="1800" dirty="0"/>
          </a:p>
        </p:txBody>
      </p:sp>
      <p:sp>
        <p:nvSpPr>
          <p:cNvPr id="17" name="layer-t-3"/>
          <p:cNvSpPr txBox="1"/>
          <p:nvPr/>
        </p:nvSpPr>
        <p:spPr>
          <a:xfrm>
            <a:off x="3200400" y="4306824"/>
            <a:ext cx="3657600" cy="822960"/>
          </a:xfrm>
          <a:prstGeom prst="rect">
            <a:avLst/>
          </a:prstGeom>
          <a:noFill/>
          <a:ln/>
        </p:spPr>
        <p:txBody>
          <a:bodyPr wrap="square" lIns="0" tIns="0" rIns="0" bIns="0" rtlCol="0" anchor="ctr"/>
          <a:lstStyle/>
          <a:p>
            <a:pPr indent="0" marL="0">
              <a:buNone/>
            </a:pPr>
            <a:r>
              <a:rPr lang="en-US" sz="1400" dirty="0">
                <a:solidFill>
                  <a:schemeClr val="accent1"/>
                </a:solidFill>
              </a:rPr>
              <a:t>10 agents + orchestrator · Claude (optional)</a:t>
            </a:r>
            <a:endParaRPr lang="en-US" sz="1400" dirty="0"/>
          </a:p>
        </p:txBody>
      </p:sp>
      <p:sp>
        <p:nvSpPr>
          <p:cNvPr id="18" name="layer-r-3"/>
          <p:cNvSpPr txBox="1"/>
          <p:nvPr/>
        </p:nvSpPr>
        <p:spPr>
          <a:xfrm>
            <a:off x="6949440" y="4306824"/>
            <a:ext cx="4480560" cy="822960"/>
          </a:xfrm>
          <a:prstGeom prst="rect">
            <a:avLst/>
          </a:prstGeom>
          <a:noFill/>
          <a:ln/>
        </p:spPr>
        <p:txBody>
          <a:bodyPr wrap="square" lIns="0" tIns="0" rIns="0" bIns="0" rtlCol="0" anchor="ctr"/>
          <a:lstStyle/>
          <a:p>
            <a:pPr indent="0" marL="0">
              <a:buNone/>
            </a:pPr>
            <a:r>
              <a:rPr lang="en-US" sz="1400" dirty="0">
                <a:solidFill>
                  <a:schemeClr val="tx1"/>
                </a:solidFill>
              </a:rPr>
              <a:t>Dependency graph, bounded fix-and-verify loop, resume after restart</a:t>
            </a:r>
            <a:endParaRPr lang="en-US" sz="1400" dirty="0"/>
          </a:p>
        </p:txBody>
      </p:sp>
      <p:sp>
        <p:nvSpPr>
          <p:cNvPr id="19" name="layer-4"/>
          <p:cNvSpPr/>
          <p:nvPr/>
        </p:nvSpPr>
        <p:spPr>
          <a:xfrm>
            <a:off x="548640" y="5285232"/>
            <a:ext cx="11064240" cy="822960"/>
          </a:xfrm>
          <a:prstGeom prst="roundRect">
            <a:avLst>
              <a:gd name="adj" fmla="val 11111"/>
            </a:avLst>
          </a:prstGeom>
          <a:solidFill>
            <a:schemeClr val="accent1"/>
          </a:solidFill>
          <a:ln/>
        </p:spPr>
      </p:sp>
      <p:sp>
        <p:nvSpPr>
          <p:cNvPr id="20" name="layer-n-4"/>
          <p:cNvSpPr txBox="1"/>
          <p:nvPr/>
        </p:nvSpPr>
        <p:spPr>
          <a:xfrm>
            <a:off x="822960" y="5285232"/>
            <a:ext cx="2377440" cy="822960"/>
          </a:xfrm>
          <a:prstGeom prst="rect">
            <a:avLst/>
          </a:prstGeom>
          <a:noFill/>
          <a:ln/>
        </p:spPr>
        <p:txBody>
          <a:bodyPr wrap="square" lIns="0" tIns="0" rIns="0" bIns="0" rtlCol="0" anchor="ctr"/>
          <a:lstStyle/>
          <a:p>
            <a:pPr indent="0" marL="0">
              <a:buNone/>
            </a:pPr>
            <a:r>
              <a:rPr lang="en-US" sz="1800" b="1" dirty="0">
                <a:solidFill>
                  <a:schemeClr val="bg1"/>
                </a:solidFill>
              </a:rPr>
              <a:t>Database</a:t>
            </a:r>
            <a:endParaRPr lang="en-US" sz="1800" dirty="0"/>
          </a:p>
        </p:txBody>
      </p:sp>
      <p:sp>
        <p:nvSpPr>
          <p:cNvPr id="21" name="layer-t-4"/>
          <p:cNvSpPr txBox="1"/>
          <p:nvPr/>
        </p:nvSpPr>
        <p:spPr>
          <a:xfrm>
            <a:off x="3200400" y="5285232"/>
            <a:ext cx="3657600" cy="822960"/>
          </a:xfrm>
          <a:prstGeom prst="rect">
            <a:avLst/>
          </a:prstGeom>
          <a:noFill/>
          <a:ln/>
        </p:spPr>
        <p:txBody>
          <a:bodyPr wrap="square" lIns="0" tIns="0" rIns="0" bIns="0" rtlCol="0" anchor="ctr"/>
          <a:lstStyle/>
          <a:p>
            <a:pPr indent="0" marL="0">
              <a:buNone/>
            </a:pPr>
            <a:r>
              <a:rPr lang="en-US" sz="1400" dirty="0">
                <a:solidFill>
                  <a:schemeClr val="bg1"/>
                </a:solidFill>
              </a:rPr>
              <a:t>MongoDB Atlas · 12 collections</a:t>
            </a:r>
            <a:endParaRPr lang="en-US" sz="1400" dirty="0"/>
          </a:p>
        </p:txBody>
      </p:sp>
      <p:sp>
        <p:nvSpPr>
          <p:cNvPr id="22" name="layer-r-4"/>
          <p:cNvSpPr txBox="1"/>
          <p:nvPr/>
        </p:nvSpPr>
        <p:spPr>
          <a:xfrm>
            <a:off x="6949440" y="5285232"/>
            <a:ext cx="4480560" cy="822960"/>
          </a:xfrm>
          <a:prstGeom prst="rect">
            <a:avLst/>
          </a:prstGeom>
          <a:noFill/>
          <a:ln/>
        </p:spPr>
        <p:txBody>
          <a:bodyPr wrap="square" lIns="0" tIns="0" rIns="0" bIns="0" rtlCol="0" anchor="ctr"/>
          <a:lstStyle/>
          <a:p>
            <a:pPr indent="0" marL="0">
              <a:buNone/>
            </a:pPr>
            <a:r>
              <a:rPr lang="en-US" sz="1400" dirty="0">
                <a:solidFill>
                  <a:schemeClr val="bg1"/>
                </a:solidFill>
              </a:rPr>
              <a:t>Model, results, faults, recommendations, agent tasks, memory, audit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Ten agents in four stages, with a loop until verified</a:t>
            </a:r>
            <a:endParaRPr lang="en-US" sz="3200" dirty="0"/>
          </a:p>
        </p:txBody>
      </p:sp>
      <p:sp>
        <p:nvSpPr>
          <p:cNvPr id="3" name="stage-0"/>
          <p:cNvSpPr/>
          <p:nvPr/>
        </p:nvSpPr>
        <p:spPr>
          <a:xfrm>
            <a:off x="548640" y="1417320"/>
            <a:ext cx="2514600" cy="3840480"/>
          </a:xfrm>
          <a:prstGeom prst="roundRect">
            <a:avLst>
              <a:gd name="adj" fmla="val 4364"/>
            </a:avLst>
          </a:prstGeom>
          <a:solidFill>
            <a:schemeClr val="bg2"/>
          </a:solidFill>
          <a:ln/>
        </p:spPr>
      </p:sp>
      <p:sp>
        <p:nvSpPr>
          <p:cNvPr id="4" name="stage-t-0"/>
          <p:cNvSpPr txBox="1"/>
          <p:nvPr/>
        </p:nvSpPr>
        <p:spPr>
          <a:xfrm>
            <a:off x="731520" y="1554480"/>
            <a:ext cx="2148840" cy="457200"/>
          </a:xfrm>
          <a:prstGeom prst="rect">
            <a:avLst/>
          </a:prstGeom>
          <a:noFill/>
          <a:ln/>
        </p:spPr>
        <p:txBody>
          <a:bodyPr wrap="square" lIns="0" tIns="0" rIns="0" bIns="0" rtlCol="0" anchor="ctr"/>
          <a:lstStyle/>
          <a:p>
            <a:pPr indent="0" marL="0">
              <a:buNone/>
            </a:pPr>
            <a:r>
              <a:rPr lang="en-US" sz="1800" b="1" dirty="0">
                <a:solidFill>
                  <a:schemeClr val="accent1"/>
                </a:solidFill>
              </a:rPr>
              <a:t>Model &amp; solve</a:t>
            </a:r>
            <a:endParaRPr lang="en-US" sz="1800" dirty="0"/>
          </a:p>
        </p:txBody>
      </p:sp>
      <p:sp>
        <p:nvSpPr>
          <p:cNvPr id="5" name="agent-0-0"/>
          <p:cNvSpPr/>
          <p:nvPr/>
        </p:nvSpPr>
        <p:spPr>
          <a:xfrm>
            <a:off x="731520" y="2148840"/>
            <a:ext cx="2148840" cy="777240"/>
          </a:xfrm>
          <a:prstGeom prst="roundRect">
            <a:avLst>
              <a:gd name="adj" fmla="val 9412"/>
            </a:avLst>
          </a:prstGeom>
          <a:solidFill>
            <a:schemeClr val="bg1"/>
          </a:solidFill>
          <a:ln w="9525">
            <a:solidFill>
              <a:srgbClr val="C9D3DD"/>
            </a:solidFill>
            <a:prstDash val="solid"/>
          </a:ln>
        </p:spPr>
      </p:sp>
      <p:sp>
        <p:nvSpPr>
          <p:cNvPr id="6" name="agent-t-0-0"/>
          <p:cNvSpPr txBox="1"/>
          <p:nvPr/>
        </p:nvSpPr>
        <p:spPr>
          <a:xfrm>
            <a:off x="868680" y="2148840"/>
            <a:ext cx="1874520" cy="777240"/>
          </a:xfrm>
          <a:prstGeom prst="rect">
            <a:avLst/>
          </a:prstGeom>
          <a:noFill/>
          <a:ln/>
        </p:spPr>
        <p:txBody>
          <a:bodyPr wrap="square" lIns="0" tIns="0" rIns="0" bIns="0" rtlCol="0" anchor="ctr"/>
          <a:lstStyle/>
          <a:p>
            <a:pPr indent="0" marL="0">
              <a:buNone/>
            </a:pPr>
            <a:r>
              <a:rPr lang="en-US" sz="1500" dirty="0">
                <a:solidFill>
                  <a:schemeClr val="tx1"/>
                </a:solidFill>
              </a:rPr>
              <a:t>1 Circuit Modeling</a:t>
            </a:r>
            <a:endParaRPr lang="en-US" sz="1500" dirty="0"/>
          </a:p>
        </p:txBody>
      </p:sp>
      <p:sp>
        <p:nvSpPr>
          <p:cNvPr id="7" name="agent-0-1"/>
          <p:cNvSpPr/>
          <p:nvPr/>
        </p:nvSpPr>
        <p:spPr>
          <a:xfrm>
            <a:off x="731520" y="3108960"/>
            <a:ext cx="2148840" cy="777240"/>
          </a:xfrm>
          <a:prstGeom prst="roundRect">
            <a:avLst>
              <a:gd name="adj" fmla="val 9412"/>
            </a:avLst>
          </a:prstGeom>
          <a:solidFill>
            <a:schemeClr val="bg1"/>
          </a:solidFill>
          <a:ln w="9525">
            <a:solidFill>
              <a:srgbClr val="C9D3DD"/>
            </a:solidFill>
            <a:prstDash val="solid"/>
          </a:ln>
        </p:spPr>
      </p:sp>
      <p:sp>
        <p:nvSpPr>
          <p:cNvPr id="8" name="agent-t-0-1"/>
          <p:cNvSpPr txBox="1"/>
          <p:nvPr/>
        </p:nvSpPr>
        <p:spPr>
          <a:xfrm>
            <a:off x="868680" y="3108960"/>
            <a:ext cx="1874520" cy="777240"/>
          </a:xfrm>
          <a:prstGeom prst="rect">
            <a:avLst/>
          </a:prstGeom>
          <a:noFill/>
          <a:ln/>
        </p:spPr>
        <p:txBody>
          <a:bodyPr wrap="square" lIns="0" tIns="0" rIns="0" bIns="0" rtlCol="0" anchor="ctr"/>
          <a:lstStyle/>
          <a:p>
            <a:pPr indent="0" marL="0">
              <a:buNone/>
            </a:pPr>
            <a:r>
              <a:rPr lang="en-US" sz="1500" dirty="0">
                <a:solidFill>
                  <a:schemeClr val="tx1"/>
                </a:solidFill>
              </a:rPr>
              <a:t>2 Power Flow</a:t>
            </a:r>
            <a:endParaRPr lang="en-US" sz="1500" dirty="0"/>
          </a:p>
        </p:txBody>
      </p:sp>
      <p:sp>
        <p:nvSpPr>
          <p:cNvPr id="9" name="agent-0-2"/>
          <p:cNvSpPr/>
          <p:nvPr/>
        </p:nvSpPr>
        <p:spPr>
          <a:xfrm>
            <a:off x="731520" y="4069080"/>
            <a:ext cx="2148840" cy="777240"/>
          </a:xfrm>
          <a:prstGeom prst="roundRect">
            <a:avLst>
              <a:gd name="adj" fmla="val 9412"/>
            </a:avLst>
          </a:prstGeom>
          <a:solidFill>
            <a:schemeClr val="bg1"/>
          </a:solidFill>
          <a:ln w="9525">
            <a:solidFill>
              <a:srgbClr val="C9D3DD"/>
            </a:solidFill>
            <a:prstDash val="solid"/>
          </a:ln>
        </p:spPr>
      </p:sp>
      <p:sp>
        <p:nvSpPr>
          <p:cNvPr id="10" name="agent-t-0-2"/>
          <p:cNvSpPr txBox="1"/>
          <p:nvPr/>
        </p:nvSpPr>
        <p:spPr>
          <a:xfrm>
            <a:off x="868680" y="4069080"/>
            <a:ext cx="1874520" cy="777240"/>
          </a:xfrm>
          <a:prstGeom prst="rect">
            <a:avLst/>
          </a:prstGeom>
          <a:noFill/>
          <a:ln/>
        </p:spPr>
        <p:txBody>
          <a:bodyPr wrap="square" lIns="0" tIns="0" rIns="0" bIns="0" rtlCol="0" anchor="ctr"/>
          <a:lstStyle/>
          <a:p>
            <a:pPr indent="0" marL="0">
              <a:buNone/>
            </a:pPr>
            <a:r>
              <a:rPr lang="en-US" sz="1500" dirty="0">
                <a:solidFill>
                  <a:schemeClr val="tx1"/>
                </a:solidFill>
              </a:rPr>
              <a:t>3 Violation Detection</a:t>
            </a:r>
            <a:endParaRPr lang="en-US" sz="1500" dirty="0"/>
          </a:p>
        </p:txBody>
      </p:sp>
      <p:sp>
        <p:nvSpPr>
          <p:cNvPr id="11" name="stage-arrow-0"/>
          <p:cNvSpPr/>
          <p:nvPr/>
        </p:nvSpPr>
        <p:spPr>
          <a:xfrm>
            <a:off x="3099816" y="3337560"/>
            <a:ext cx="265176" cy="0"/>
          </a:xfrm>
          <a:prstGeom prst="line">
            <a:avLst/>
          </a:prstGeom>
          <a:noFill/>
          <a:ln w="25400">
            <a:solidFill>
              <a:schemeClr val="accent1"/>
            </a:solidFill>
            <a:prstDash val="solid"/>
            <a:tailEnd type="triangle"/>
          </a:ln>
        </p:spPr>
      </p:sp>
      <p:sp>
        <p:nvSpPr>
          <p:cNvPr id="12" name="stage-1"/>
          <p:cNvSpPr/>
          <p:nvPr/>
        </p:nvSpPr>
        <p:spPr>
          <a:xfrm>
            <a:off x="3401568" y="1417320"/>
            <a:ext cx="2514600" cy="3840480"/>
          </a:xfrm>
          <a:prstGeom prst="roundRect">
            <a:avLst>
              <a:gd name="adj" fmla="val 4364"/>
            </a:avLst>
          </a:prstGeom>
          <a:solidFill>
            <a:schemeClr val="bg2"/>
          </a:solidFill>
          <a:ln/>
        </p:spPr>
      </p:sp>
      <p:sp>
        <p:nvSpPr>
          <p:cNvPr id="13" name="stage-t-1"/>
          <p:cNvSpPr txBox="1"/>
          <p:nvPr/>
        </p:nvSpPr>
        <p:spPr>
          <a:xfrm>
            <a:off x="3584448" y="1554480"/>
            <a:ext cx="2148840" cy="457200"/>
          </a:xfrm>
          <a:prstGeom prst="rect">
            <a:avLst/>
          </a:prstGeom>
          <a:noFill/>
          <a:ln/>
        </p:spPr>
        <p:txBody>
          <a:bodyPr wrap="square" lIns="0" tIns="0" rIns="0" bIns="0" rtlCol="0" anchor="ctr"/>
          <a:lstStyle/>
          <a:p>
            <a:pPr indent="0" marL="0">
              <a:buNone/>
            </a:pPr>
            <a:r>
              <a:rPr lang="en-US" sz="1800" b="1" dirty="0">
                <a:solidFill>
                  <a:schemeClr val="accent1"/>
                </a:solidFill>
              </a:rPr>
              <a:t>Diagnose (parallel)</a:t>
            </a:r>
            <a:endParaRPr lang="en-US" sz="1800" dirty="0"/>
          </a:p>
        </p:txBody>
      </p:sp>
      <p:sp>
        <p:nvSpPr>
          <p:cNvPr id="14" name="agent-1-0"/>
          <p:cNvSpPr/>
          <p:nvPr/>
        </p:nvSpPr>
        <p:spPr>
          <a:xfrm>
            <a:off x="3584448" y="2148840"/>
            <a:ext cx="2148840" cy="777240"/>
          </a:xfrm>
          <a:prstGeom prst="roundRect">
            <a:avLst>
              <a:gd name="adj" fmla="val 9412"/>
            </a:avLst>
          </a:prstGeom>
          <a:solidFill>
            <a:schemeClr val="bg1"/>
          </a:solidFill>
          <a:ln w="9525">
            <a:solidFill>
              <a:srgbClr val="C9D3DD"/>
            </a:solidFill>
            <a:prstDash val="solid"/>
          </a:ln>
        </p:spPr>
      </p:sp>
      <p:sp>
        <p:nvSpPr>
          <p:cNvPr id="15" name="agent-t-1-0"/>
          <p:cNvSpPr txBox="1"/>
          <p:nvPr/>
        </p:nvSpPr>
        <p:spPr>
          <a:xfrm>
            <a:off x="3721608" y="2148840"/>
            <a:ext cx="1874520" cy="777240"/>
          </a:xfrm>
          <a:prstGeom prst="rect">
            <a:avLst/>
          </a:prstGeom>
          <a:noFill/>
          <a:ln/>
        </p:spPr>
        <p:txBody>
          <a:bodyPr wrap="square" lIns="0" tIns="0" rIns="0" bIns="0" rtlCol="0" anchor="ctr"/>
          <a:lstStyle/>
          <a:p>
            <a:pPr indent="0" marL="0">
              <a:buNone/>
            </a:pPr>
            <a:r>
              <a:rPr lang="en-US" sz="1500" dirty="0">
                <a:solidFill>
                  <a:schemeClr val="tx1"/>
                </a:solidFill>
              </a:rPr>
              <a:t>4 Root Cause</a:t>
            </a:r>
            <a:endParaRPr lang="en-US" sz="1500" dirty="0"/>
          </a:p>
        </p:txBody>
      </p:sp>
      <p:sp>
        <p:nvSpPr>
          <p:cNvPr id="16" name="agent-1-1"/>
          <p:cNvSpPr/>
          <p:nvPr/>
        </p:nvSpPr>
        <p:spPr>
          <a:xfrm>
            <a:off x="3584448" y="3108960"/>
            <a:ext cx="2148840" cy="777240"/>
          </a:xfrm>
          <a:prstGeom prst="roundRect">
            <a:avLst>
              <a:gd name="adj" fmla="val 9412"/>
            </a:avLst>
          </a:prstGeom>
          <a:solidFill>
            <a:schemeClr val="bg1"/>
          </a:solidFill>
          <a:ln w="9525">
            <a:solidFill>
              <a:srgbClr val="C9D3DD"/>
            </a:solidFill>
            <a:prstDash val="solid"/>
          </a:ln>
        </p:spPr>
      </p:sp>
      <p:sp>
        <p:nvSpPr>
          <p:cNvPr id="17" name="agent-t-1-1"/>
          <p:cNvSpPr txBox="1"/>
          <p:nvPr/>
        </p:nvSpPr>
        <p:spPr>
          <a:xfrm>
            <a:off x="3721608" y="3108960"/>
            <a:ext cx="1874520" cy="777240"/>
          </a:xfrm>
          <a:prstGeom prst="rect">
            <a:avLst/>
          </a:prstGeom>
          <a:noFill/>
          <a:ln/>
        </p:spPr>
        <p:txBody>
          <a:bodyPr wrap="square" lIns="0" tIns="0" rIns="0" bIns="0" rtlCol="0" anchor="ctr"/>
          <a:lstStyle/>
          <a:p>
            <a:pPr indent="0" marL="0">
              <a:buNone/>
            </a:pPr>
            <a:r>
              <a:rPr lang="en-US" sz="1500" dirty="0">
                <a:solidFill>
                  <a:schemeClr val="tx1"/>
                </a:solidFill>
              </a:rPr>
              <a:t>6 Data Center</a:t>
            </a:r>
            <a:endParaRPr lang="en-US" sz="1500" dirty="0"/>
          </a:p>
        </p:txBody>
      </p:sp>
      <p:sp>
        <p:nvSpPr>
          <p:cNvPr id="18" name="agent-1-2"/>
          <p:cNvSpPr/>
          <p:nvPr/>
        </p:nvSpPr>
        <p:spPr>
          <a:xfrm>
            <a:off x="3584448" y="4069080"/>
            <a:ext cx="2148840" cy="777240"/>
          </a:xfrm>
          <a:prstGeom prst="roundRect">
            <a:avLst>
              <a:gd name="adj" fmla="val 9412"/>
            </a:avLst>
          </a:prstGeom>
          <a:solidFill>
            <a:schemeClr val="bg1"/>
          </a:solidFill>
          <a:ln w="9525">
            <a:solidFill>
              <a:srgbClr val="C9D3DD"/>
            </a:solidFill>
            <a:prstDash val="solid"/>
          </a:ln>
        </p:spPr>
      </p:sp>
      <p:sp>
        <p:nvSpPr>
          <p:cNvPr id="19" name="agent-t-1-2"/>
          <p:cNvSpPr txBox="1"/>
          <p:nvPr/>
        </p:nvSpPr>
        <p:spPr>
          <a:xfrm>
            <a:off x="3721608" y="4069080"/>
            <a:ext cx="1874520" cy="777240"/>
          </a:xfrm>
          <a:prstGeom prst="rect">
            <a:avLst/>
          </a:prstGeom>
          <a:noFill/>
          <a:ln/>
        </p:spPr>
        <p:txBody>
          <a:bodyPr wrap="square" lIns="0" tIns="0" rIns="0" bIns="0" rtlCol="0" anchor="ctr"/>
          <a:lstStyle/>
          <a:p>
            <a:pPr indent="0" marL="0">
              <a:buNone/>
            </a:pPr>
            <a:r>
              <a:rPr lang="en-US" sz="1500" dirty="0">
                <a:solidFill>
                  <a:schemeClr val="tx1"/>
                </a:solidFill>
              </a:rPr>
              <a:t>9 Learning: retrieve</a:t>
            </a:r>
            <a:endParaRPr lang="en-US" sz="1500" dirty="0"/>
          </a:p>
        </p:txBody>
      </p:sp>
      <p:sp>
        <p:nvSpPr>
          <p:cNvPr id="20" name="stage-arrow-1"/>
          <p:cNvSpPr/>
          <p:nvPr/>
        </p:nvSpPr>
        <p:spPr>
          <a:xfrm>
            <a:off x="5952744" y="3337560"/>
            <a:ext cx="265176" cy="0"/>
          </a:xfrm>
          <a:prstGeom prst="line">
            <a:avLst/>
          </a:prstGeom>
          <a:noFill/>
          <a:ln w="25400">
            <a:solidFill>
              <a:schemeClr val="accent1"/>
            </a:solidFill>
            <a:prstDash val="solid"/>
            <a:tailEnd type="triangle"/>
          </a:ln>
        </p:spPr>
      </p:sp>
      <p:sp>
        <p:nvSpPr>
          <p:cNvPr id="21" name="stage-2"/>
          <p:cNvSpPr/>
          <p:nvPr/>
        </p:nvSpPr>
        <p:spPr>
          <a:xfrm>
            <a:off x="6254496" y="1417320"/>
            <a:ext cx="2514600" cy="3840480"/>
          </a:xfrm>
          <a:prstGeom prst="roundRect">
            <a:avLst>
              <a:gd name="adj" fmla="val 4364"/>
            </a:avLst>
          </a:prstGeom>
          <a:solidFill>
            <a:schemeClr val="bg2"/>
          </a:solidFill>
          <a:ln/>
        </p:spPr>
      </p:sp>
      <p:sp>
        <p:nvSpPr>
          <p:cNvPr id="22" name="stage-t-2"/>
          <p:cNvSpPr txBox="1"/>
          <p:nvPr/>
        </p:nvSpPr>
        <p:spPr>
          <a:xfrm>
            <a:off x="6437376" y="1554480"/>
            <a:ext cx="2148840" cy="457200"/>
          </a:xfrm>
          <a:prstGeom prst="rect">
            <a:avLst/>
          </a:prstGeom>
          <a:noFill/>
          <a:ln/>
        </p:spPr>
        <p:txBody>
          <a:bodyPr wrap="square" lIns="0" tIns="0" rIns="0" bIns="0" rtlCol="0" anchor="ctr"/>
          <a:lstStyle/>
          <a:p>
            <a:pPr indent="0" marL="0">
              <a:buNone/>
            </a:pPr>
            <a:r>
              <a:rPr lang="en-US" sz="1800" b="1" dirty="0">
                <a:solidFill>
                  <a:schemeClr val="accent3"/>
                </a:solidFill>
              </a:rPr>
              <a:t>Correct · loop</a:t>
            </a:r>
            <a:endParaRPr lang="en-US" sz="1800" dirty="0"/>
          </a:p>
        </p:txBody>
      </p:sp>
      <p:sp>
        <p:nvSpPr>
          <p:cNvPr id="23" name="agent-2-0"/>
          <p:cNvSpPr/>
          <p:nvPr/>
        </p:nvSpPr>
        <p:spPr>
          <a:xfrm>
            <a:off x="6437376" y="2148840"/>
            <a:ext cx="2148840" cy="777240"/>
          </a:xfrm>
          <a:prstGeom prst="roundRect">
            <a:avLst>
              <a:gd name="adj" fmla="val 9412"/>
            </a:avLst>
          </a:prstGeom>
          <a:solidFill>
            <a:schemeClr val="bg1"/>
          </a:solidFill>
          <a:ln w="9525">
            <a:solidFill>
              <a:srgbClr val="C9D3DD"/>
            </a:solidFill>
            <a:prstDash val="solid"/>
          </a:ln>
        </p:spPr>
      </p:sp>
      <p:sp>
        <p:nvSpPr>
          <p:cNvPr id="24" name="agent-t-2-0"/>
          <p:cNvSpPr txBox="1"/>
          <p:nvPr/>
        </p:nvSpPr>
        <p:spPr>
          <a:xfrm>
            <a:off x="6574536" y="2148840"/>
            <a:ext cx="1874520" cy="777240"/>
          </a:xfrm>
          <a:prstGeom prst="rect">
            <a:avLst/>
          </a:prstGeom>
          <a:noFill/>
          <a:ln/>
        </p:spPr>
        <p:txBody>
          <a:bodyPr wrap="square" lIns="0" tIns="0" rIns="0" bIns="0" rtlCol="0" anchor="ctr"/>
          <a:lstStyle/>
          <a:p>
            <a:pPr indent="0" marL="0">
              <a:buNone/>
            </a:pPr>
            <a:r>
              <a:rPr lang="en-US" sz="1500" dirty="0">
                <a:solidFill>
                  <a:schemeClr val="tx1"/>
                </a:solidFill>
              </a:rPr>
              <a:t>5 Corrective Action</a:t>
            </a:r>
            <a:endParaRPr lang="en-US" sz="1500" dirty="0"/>
          </a:p>
        </p:txBody>
      </p:sp>
      <p:sp>
        <p:nvSpPr>
          <p:cNvPr id="25" name="agent-2-1"/>
          <p:cNvSpPr/>
          <p:nvPr/>
        </p:nvSpPr>
        <p:spPr>
          <a:xfrm>
            <a:off x="6437376" y="3108960"/>
            <a:ext cx="2148840" cy="777240"/>
          </a:xfrm>
          <a:prstGeom prst="roundRect">
            <a:avLst>
              <a:gd name="adj" fmla="val 9412"/>
            </a:avLst>
          </a:prstGeom>
          <a:solidFill>
            <a:schemeClr val="bg1"/>
          </a:solidFill>
          <a:ln w="9525">
            <a:solidFill>
              <a:srgbClr val="C9D3DD"/>
            </a:solidFill>
            <a:prstDash val="solid"/>
          </a:ln>
        </p:spPr>
      </p:sp>
      <p:sp>
        <p:nvSpPr>
          <p:cNvPr id="26" name="agent-t-2-1"/>
          <p:cNvSpPr txBox="1"/>
          <p:nvPr/>
        </p:nvSpPr>
        <p:spPr>
          <a:xfrm>
            <a:off x="6574536" y="3108960"/>
            <a:ext cx="1874520" cy="777240"/>
          </a:xfrm>
          <a:prstGeom prst="rect">
            <a:avLst/>
          </a:prstGeom>
          <a:noFill/>
          <a:ln/>
        </p:spPr>
        <p:txBody>
          <a:bodyPr wrap="square" lIns="0" tIns="0" rIns="0" bIns="0" rtlCol="0" anchor="ctr"/>
          <a:lstStyle/>
          <a:p>
            <a:pPr indent="0" marL="0">
              <a:buNone/>
            </a:pPr>
            <a:r>
              <a:rPr lang="en-US" sz="1500" dirty="0">
                <a:solidFill>
                  <a:schemeClr val="tx1"/>
                </a:solidFill>
              </a:rPr>
              <a:t>7 Optimization</a:t>
            </a:r>
            <a:endParaRPr lang="en-US" sz="1500" dirty="0"/>
          </a:p>
        </p:txBody>
      </p:sp>
      <p:sp>
        <p:nvSpPr>
          <p:cNvPr id="27" name="agent-2-2"/>
          <p:cNvSpPr/>
          <p:nvPr/>
        </p:nvSpPr>
        <p:spPr>
          <a:xfrm>
            <a:off x="6437376" y="4069080"/>
            <a:ext cx="2148840" cy="777240"/>
          </a:xfrm>
          <a:prstGeom prst="roundRect">
            <a:avLst>
              <a:gd name="adj" fmla="val 9412"/>
            </a:avLst>
          </a:prstGeom>
          <a:solidFill>
            <a:schemeClr val="bg1"/>
          </a:solidFill>
          <a:ln w="9525">
            <a:solidFill>
              <a:srgbClr val="C9D3DD"/>
            </a:solidFill>
            <a:prstDash val="solid"/>
          </a:ln>
        </p:spPr>
      </p:sp>
      <p:sp>
        <p:nvSpPr>
          <p:cNvPr id="28" name="agent-t-2-2"/>
          <p:cNvSpPr txBox="1"/>
          <p:nvPr/>
        </p:nvSpPr>
        <p:spPr>
          <a:xfrm>
            <a:off x="6574536" y="4069080"/>
            <a:ext cx="1874520" cy="777240"/>
          </a:xfrm>
          <a:prstGeom prst="rect">
            <a:avLst/>
          </a:prstGeom>
          <a:noFill/>
          <a:ln/>
        </p:spPr>
        <p:txBody>
          <a:bodyPr wrap="square" lIns="0" tIns="0" rIns="0" bIns="0" rtlCol="0" anchor="ctr"/>
          <a:lstStyle/>
          <a:p>
            <a:pPr indent="0" marL="0">
              <a:buNone/>
            </a:pPr>
            <a:r>
              <a:rPr lang="en-US" sz="1500" dirty="0">
                <a:solidFill>
                  <a:schemeClr val="tx1"/>
                </a:solidFill>
              </a:rPr>
              <a:t>8 Independent Verification</a:t>
            </a:r>
            <a:endParaRPr lang="en-US" sz="1500" dirty="0"/>
          </a:p>
        </p:txBody>
      </p:sp>
      <p:sp>
        <p:nvSpPr>
          <p:cNvPr id="29" name="stage-arrow-2"/>
          <p:cNvSpPr/>
          <p:nvPr/>
        </p:nvSpPr>
        <p:spPr>
          <a:xfrm>
            <a:off x="8805672" y="3337560"/>
            <a:ext cx="265176" cy="0"/>
          </a:xfrm>
          <a:prstGeom prst="line">
            <a:avLst/>
          </a:prstGeom>
          <a:noFill/>
          <a:ln w="25400">
            <a:solidFill>
              <a:schemeClr val="accent1"/>
            </a:solidFill>
            <a:prstDash val="solid"/>
            <a:tailEnd type="triangle"/>
          </a:ln>
        </p:spPr>
      </p:sp>
      <p:sp>
        <p:nvSpPr>
          <p:cNvPr id="30" name="stage-3"/>
          <p:cNvSpPr/>
          <p:nvPr/>
        </p:nvSpPr>
        <p:spPr>
          <a:xfrm>
            <a:off x="9107424" y="1417320"/>
            <a:ext cx="2514600" cy="3840480"/>
          </a:xfrm>
          <a:prstGeom prst="roundRect">
            <a:avLst>
              <a:gd name="adj" fmla="val 4364"/>
            </a:avLst>
          </a:prstGeom>
          <a:solidFill>
            <a:schemeClr val="bg2"/>
          </a:solidFill>
          <a:ln/>
        </p:spPr>
      </p:sp>
      <p:sp>
        <p:nvSpPr>
          <p:cNvPr id="31" name="stage-t-3"/>
          <p:cNvSpPr txBox="1"/>
          <p:nvPr/>
        </p:nvSpPr>
        <p:spPr>
          <a:xfrm>
            <a:off x="9290304" y="1554480"/>
            <a:ext cx="2148840" cy="457200"/>
          </a:xfrm>
          <a:prstGeom prst="rect">
            <a:avLst/>
          </a:prstGeom>
          <a:noFill/>
          <a:ln/>
        </p:spPr>
        <p:txBody>
          <a:bodyPr wrap="square" lIns="0" tIns="0" rIns="0" bIns="0" rtlCol="0" anchor="ctr"/>
          <a:lstStyle/>
          <a:p>
            <a:pPr indent="0" marL="0">
              <a:buNone/>
            </a:pPr>
            <a:r>
              <a:rPr lang="en-US" sz="1800" b="1" dirty="0">
                <a:solidFill>
                  <a:schemeClr val="accent1"/>
                </a:solidFill>
              </a:rPr>
              <a:t>Learn &amp; report</a:t>
            </a:r>
            <a:endParaRPr lang="en-US" sz="1800" dirty="0"/>
          </a:p>
        </p:txBody>
      </p:sp>
      <p:sp>
        <p:nvSpPr>
          <p:cNvPr id="32" name="agent-3-0"/>
          <p:cNvSpPr/>
          <p:nvPr/>
        </p:nvSpPr>
        <p:spPr>
          <a:xfrm>
            <a:off x="9290304" y="2148840"/>
            <a:ext cx="2148840" cy="777240"/>
          </a:xfrm>
          <a:prstGeom prst="roundRect">
            <a:avLst>
              <a:gd name="adj" fmla="val 9412"/>
            </a:avLst>
          </a:prstGeom>
          <a:solidFill>
            <a:schemeClr val="bg1"/>
          </a:solidFill>
          <a:ln w="9525">
            <a:solidFill>
              <a:srgbClr val="C9D3DD"/>
            </a:solidFill>
            <a:prstDash val="solid"/>
          </a:ln>
        </p:spPr>
      </p:sp>
      <p:sp>
        <p:nvSpPr>
          <p:cNvPr id="33" name="agent-t-3-0"/>
          <p:cNvSpPr txBox="1"/>
          <p:nvPr/>
        </p:nvSpPr>
        <p:spPr>
          <a:xfrm>
            <a:off x="9427464" y="2148840"/>
            <a:ext cx="1874520" cy="777240"/>
          </a:xfrm>
          <a:prstGeom prst="rect">
            <a:avLst/>
          </a:prstGeom>
          <a:noFill/>
          <a:ln/>
        </p:spPr>
        <p:txBody>
          <a:bodyPr wrap="square" lIns="0" tIns="0" rIns="0" bIns="0" rtlCol="0" anchor="ctr"/>
          <a:lstStyle/>
          <a:p>
            <a:pPr indent="0" marL="0">
              <a:buNone/>
            </a:pPr>
            <a:r>
              <a:rPr lang="en-US" sz="1500" dirty="0">
                <a:solidFill>
                  <a:schemeClr val="tx1"/>
                </a:solidFill>
              </a:rPr>
              <a:t>9 Learning: store</a:t>
            </a:r>
            <a:endParaRPr lang="en-US" sz="1500" dirty="0"/>
          </a:p>
        </p:txBody>
      </p:sp>
      <p:sp>
        <p:nvSpPr>
          <p:cNvPr id="34" name="agent-3-1"/>
          <p:cNvSpPr/>
          <p:nvPr/>
        </p:nvSpPr>
        <p:spPr>
          <a:xfrm>
            <a:off x="9290304" y="3108960"/>
            <a:ext cx="2148840" cy="777240"/>
          </a:xfrm>
          <a:prstGeom prst="roundRect">
            <a:avLst>
              <a:gd name="adj" fmla="val 9412"/>
            </a:avLst>
          </a:prstGeom>
          <a:solidFill>
            <a:schemeClr val="bg1"/>
          </a:solidFill>
          <a:ln w="9525">
            <a:solidFill>
              <a:srgbClr val="C9D3DD"/>
            </a:solidFill>
            <a:prstDash val="solid"/>
          </a:ln>
        </p:spPr>
      </p:sp>
      <p:sp>
        <p:nvSpPr>
          <p:cNvPr id="35" name="agent-t-3-1"/>
          <p:cNvSpPr txBox="1"/>
          <p:nvPr/>
        </p:nvSpPr>
        <p:spPr>
          <a:xfrm>
            <a:off x="9427464" y="3108960"/>
            <a:ext cx="1874520" cy="777240"/>
          </a:xfrm>
          <a:prstGeom prst="rect">
            <a:avLst/>
          </a:prstGeom>
          <a:noFill/>
          <a:ln/>
        </p:spPr>
        <p:txBody>
          <a:bodyPr wrap="square" lIns="0" tIns="0" rIns="0" bIns="0" rtlCol="0" anchor="ctr"/>
          <a:lstStyle/>
          <a:p>
            <a:pPr indent="0" marL="0">
              <a:buNone/>
            </a:pPr>
            <a:r>
              <a:rPr lang="en-US" sz="1500" dirty="0">
                <a:solidFill>
                  <a:schemeClr val="tx1"/>
                </a:solidFill>
              </a:rPr>
              <a:t>10 Engineering Report</a:t>
            </a:r>
            <a:endParaRPr lang="en-US" sz="1500" dirty="0"/>
          </a:p>
        </p:txBody>
      </p:sp>
      <p:sp>
        <p:nvSpPr>
          <p:cNvPr id="36" name="loop-note"/>
          <p:cNvSpPr txBox="1"/>
          <p:nvPr/>
        </p:nvSpPr>
        <p:spPr>
          <a:xfrm>
            <a:off x="548640" y="5486400"/>
            <a:ext cx="11064240" cy="731520"/>
          </a:xfrm>
          <a:prstGeom prst="rect">
            <a:avLst/>
          </a:prstGeom>
          <a:noFill/>
          <a:ln/>
        </p:spPr>
        <p:txBody>
          <a:bodyPr wrap="square" lIns="0" tIns="0" rIns="0" bIns="0" rtlCol="0" anchor="ctr"/>
          <a:lstStyle/>
          <a:p>
            <a:pPr indent="0" marL="0">
              <a:buNone/>
            </a:pPr>
            <a:r>
              <a:rPr lang="en-US" sz="1500" dirty="0">
                <a:solidFill>
                  <a:schemeClr val="tx1"/>
                </a:solidFill>
              </a:rPr>
              <a:t>Corrective Action → Optimization → Verification repeats until no violation remains at peak and light load, the budget of 3 iterations is used, or no improving action exists. Every task is written to the agent_runs collection.</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Built on a public benchmark and public data</a:t>
            </a:r>
            <a:endParaRPr lang="en-US" sz="3200" dirty="0"/>
          </a:p>
        </p:txBody>
      </p:sp>
      <p:pic>
        <p:nvPicPr>
          <p:cNvPr id="3" name="shot-02_circuit_original" descr="GridMind AI screenshot: 02 circuit original">    </p:cNvPr>
          <p:cNvPicPr>
            <a:picLocks noChangeAspect="1"/>
          </p:cNvPicPr>
          <p:nvPr/>
        </p:nvPicPr>
        <p:blipFill>
          <a:blip r:embed="rId1"/>
          <a:stretch>
            <a:fillRect/>
          </a:stretch>
        </p:blipFill>
        <p:spPr>
          <a:xfrm>
            <a:off x="548640" y="1371600"/>
            <a:ext cx="6766560" cy="4229100"/>
          </a:xfrm>
          <a:prstGeom prst="rect">
            <a:avLst/>
          </a:prstGeom>
          <a:effectLst>
            <a:outerShdw sx="100000" sy="100000" kx="0" ky="0" algn="bl" rotWithShape="0" blurRad="76200" dist="25400" dir="5400000">
              <a:srgbClr val="1B2A3A">
                <a:alpha val="18000"/>
              </a:srgbClr>
            </a:outerShdw>
          </a:effectLst>
        </p:spPr>
      </p:pic>
      <p:sp>
        <p:nvSpPr>
          <p:cNvPr id="4" name="frame-02_circuit_original"/>
          <p:cNvSpPr/>
          <p:nvPr/>
        </p:nvSpPr>
        <p:spPr>
          <a:xfrm>
            <a:off x="548640" y="1371600"/>
            <a:ext cx="6766560" cy="4229100"/>
          </a:xfrm>
          <a:prstGeom prst="rect">
            <a:avLst/>
          </a:prstGeom>
          <a:ln w="9525">
            <a:solidFill>
              <a:srgbClr val="C9D3DD"/>
            </a:solidFill>
            <a:prstDash val="solid"/>
          </a:ln>
        </p:spPr>
      </p:sp>
      <p:sp>
        <p:nvSpPr>
          <p:cNvPr id="5" name="dot-1-8.4"/>
          <p:cNvSpPr/>
          <p:nvPr/>
        </p:nvSpPr>
        <p:spPr>
          <a:xfrm>
            <a:off x="7680960" y="1463040"/>
            <a:ext cx="384048" cy="384048"/>
          </a:xfrm>
          <a:prstGeom prst="ellipse">
            <a:avLst/>
          </a:prstGeom>
          <a:solidFill>
            <a:schemeClr val="accent1"/>
          </a:solidFill>
          <a:ln/>
        </p:spPr>
      </p:sp>
      <p:sp>
        <p:nvSpPr>
          <p:cNvPr id="6" name="dotnum-1-8.4"/>
          <p:cNvSpPr txBox="1"/>
          <p:nvPr/>
        </p:nvSpPr>
        <p:spPr>
          <a:xfrm>
            <a:off x="7680960" y="14630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point-0"/>
          <p:cNvSpPr txBox="1"/>
          <p:nvPr/>
        </p:nvSpPr>
        <p:spPr>
          <a:xfrm>
            <a:off x="8211312" y="1417320"/>
            <a:ext cx="3447288" cy="1005840"/>
          </a:xfrm>
          <a:prstGeom prst="rect">
            <a:avLst/>
          </a:prstGeom>
          <a:noFill/>
          <a:ln/>
        </p:spPr>
        <p:txBody>
          <a:bodyPr wrap="square" lIns="0" tIns="0" rIns="0" bIns="0" rtlCol="0" anchor="t"/>
          <a:lstStyle/>
          <a:p>
            <a:pPr indent="0" marL="0">
              <a:buNone/>
            </a:pPr>
            <a:r>
              <a:rPr lang="en-US" sz="1600" b="1" dirty="0">
                <a:solidFill>
                  <a:schemeClr val="tx2"/>
                </a:solidFill>
              </a:rPr>
              <a:t>CIGRE MV benchmark network</a:t>
            </a:r>
            <a:endParaRPr lang="en-US" sz="1600" dirty="0"/>
          </a:p>
          <a:p>
            <a:pPr indent="0" marL="0">
              <a:buNone/>
            </a:pPr>
            <a:r>
              <a:rPr lang="en-US" sz="1400" dirty="0">
                <a:solidFill>
                  <a:schemeClr val="tx1"/>
                </a:solidFill>
              </a:rPr>
              <a:t>Parameters copied from the public model; a test matches its reference voltages.</a:t>
            </a:r>
            <a:endParaRPr lang="en-US" sz="1600" dirty="0"/>
          </a:p>
        </p:txBody>
      </p:sp>
      <p:sp>
        <p:nvSpPr>
          <p:cNvPr id="8" name="dot-2-8.4"/>
          <p:cNvSpPr/>
          <p:nvPr/>
        </p:nvSpPr>
        <p:spPr>
          <a:xfrm>
            <a:off x="7680960" y="2560320"/>
            <a:ext cx="384048" cy="384048"/>
          </a:xfrm>
          <a:prstGeom prst="ellipse">
            <a:avLst/>
          </a:prstGeom>
          <a:solidFill>
            <a:schemeClr val="accent1"/>
          </a:solidFill>
          <a:ln/>
        </p:spPr>
      </p:sp>
      <p:sp>
        <p:nvSpPr>
          <p:cNvPr id="9" name="dotnum-2-8.4"/>
          <p:cNvSpPr txBox="1"/>
          <p:nvPr/>
        </p:nvSpPr>
        <p:spPr>
          <a:xfrm>
            <a:off x="7680960" y="256032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point-1"/>
          <p:cNvSpPr txBox="1"/>
          <p:nvPr/>
        </p:nvSpPr>
        <p:spPr>
          <a:xfrm>
            <a:off x="8211312" y="2514600"/>
            <a:ext cx="3447288" cy="1005840"/>
          </a:xfrm>
          <a:prstGeom prst="rect">
            <a:avLst/>
          </a:prstGeom>
          <a:noFill/>
          <a:ln/>
        </p:spPr>
        <p:txBody>
          <a:bodyPr wrap="square" lIns="0" tIns="0" rIns="0" bIns="0" rtlCol="0" anchor="t"/>
          <a:lstStyle/>
          <a:p>
            <a:pPr indent="0" marL="0">
              <a:buNone/>
            </a:pPr>
            <a:r>
              <a:rPr lang="en-US" sz="1600" b="1" dirty="0">
                <a:solidFill>
                  <a:schemeClr val="tx2"/>
                </a:solidFill>
              </a:rPr>
              <a:t>SimBench load profiles</a:t>
            </a:r>
            <a:endParaRPr lang="en-US" sz="1600" dirty="0"/>
          </a:p>
          <a:p>
            <a:pPr indent="0" marL="0">
              <a:buNone/>
            </a:pPr>
            <a:r>
              <a:rPr lang="en-US" sz="1400" dirty="0">
                <a:solidFill>
                  <a:schemeClr val="tx1"/>
                </a:solidFill>
              </a:rPr>
              <a:t>Residential and commercial shapes for the 24-hour study (CC BY 4.0).</a:t>
            </a:r>
            <a:endParaRPr lang="en-US" sz="1600" dirty="0"/>
          </a:p>
        </p:txBody>
      </p:sp>
      <p:sp>
        <p:nvSpPr>
          <p:cNvPr id="11" name="dot-3-8.4"/>
          <p:cNvSpPr/>
          <p:nvPr/>
        </p:nvSpPr>
        <p:spPr>
          <a:xfrm>
            <a:off x="7680960" y="3657600"/>
            <a:ext cx="384048" cy="384048"/>
          </a:xfrm>
          <a:prstGeom prst="ellipse">
            <a:avLst/>
          </a:prstGeom>
          <a:solidFill>
            <a:schemeClr val="accent1"/>
          </a:solidFill>
          <a:ln/>
        </p:spPr>
      </p:sp>
      <p:sp>
        <p:nvSpPr>
          <p:cNvPr id="12" name="dotnum-3-8.4"/>
          <p:cNvSpPr txBox="1"/>
          <p:nvPr/>
        </p:nvSpPr>
        <p:spPr>
          <a:xfrm>
            <a:off x="7680960" y="36576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point-2"/>
          <p:cNvSpPr txBox="1"/>
          <p:nvPr/>
        </p:nvSpPr>
        <p:spPr>
          <a:xfrm>
            <a:off x="8211312" y="3611880"/>
            <a:ext cx="3447288" cy="1005840"/>
          </a:xfrm>
          <a:prstGeom prst="rect">
            <a:avLst/>
          </a:prstGeom>
          <a:noFill/>
          <a:ln/>
        </p:spPr>
        <p:txBody>
          <a:bodyPr wrap="square" lIns="0" tIns="0" rIns="0" bIns="0" rtlCol="0" anchor="t"/>
          <a:lstStyle/>
          <a:p>
            <a:pPr indent="0" marL="0">
              <a:buNone/>
            </a:pPr>
            <a:r>
              <a:rPr lang="en-US" sz="1600" b="1" dirty="0">
                <a:solidFill>
                  <a:schemeClr val="tx2"/>
                </a:solidFill>
              </a:rPr>
              <a:t>Open-Meteo weather</a:t>
            </a:r>
            <a:endParaRPr lang="en-US" sz="1600" dirty="0"/>
          </a:p>
          <a:p>
            <a:pPr indent="0" marL="0">
              <a:buNone/>
            </a:pPr>
            <a:r>
              <a:rPr lang="en-US" sz="1400" dirty="0">
                <a:solidFill>
                  <a:schemeClr val="tx1"/>
                </a:solidFill>
              </a:rPr>
              <a:t>Hourly temperature and solar data for San Jose drive cooling and PV.</a:t>
            </a:r>
            <a:endParaRPr lang="en-US" sz="1600" dirty="0"/>
          </a:p>
        </p:txBody>
      </p:sp>
      <p:sp>
        <p:nvSpPr>
          <p:cNvPr id="14" name="dot-4-8.4"/>
          <p:cNvSpPr/>
          <p:nvPr/>
        </p:nvSpPr>
        <p:spPr>
          <a:xfrm>
            <a:off x="7680960" y="4754880"/>
            <a:ext cx="384048" cy="384048"/>
          </a:xfrm>
          <a:prstGeom prst="ellipse">
            <a:avLst/>
          </a:prstGeom>
          <a:solidFill>
            <a:schemeClr val="accent1"/>
          </a:solidFill>
          <a:ln/>
        </p:spPr>
      </p:sp>
      <p:sp>
        <p:nvSpPr>
          <p:cNvPr id="15" name="dotnum-4-8.4"/>
          <p:cNvSpPr txBox="1"/>
          <p:nvPr/>
        </p:nvSpPr>
        <p:spPr>
          <a:xfrm>
            <a:off x="7680960" y="475488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point-3"/>
          <p:cNvSpPr txBox="1"/>
          <p:nvPr/>
        </p:nvSpPr>
        <p:spPr>
          <a:xfrm>
            <a:off x="8211312" y="4709160"/>
            <a:ext cx="3447288" cy="1005840"/>
          </a:xfrm>
          <a:prstGeom prst="rect">
            <a:avLst/>
          </a:prstGeom>
          <a:noFill/>
          <a:ln/>
        </p:spPr>
        <p:txBody>
          <a:bodyPr wrap="square" lIns="0" tIns="0" rIns="0" bIns="0" rtlCol="0" anchor="t"/>
          <a:lstStyle/>
          <a:p>
            <a:pPr indent="0" marL="0">
              <a:buNone/>
            </a:pPr>
            <a:r>
              <a:rPr lang="en-US" sz="1600" b="1" dirty="0">
                <a:solidFill>
                  <a:schemeClr val="tx2"/>
                </a:solidFill>
              </a:rPr>
              <a:t>Assumptions are labelled</a:t>
            </a:r>
            <a:endParaRPr lang="en-US" sz="1600" dirty="0"/>
          </a:p>
          <a:p>
            <a:pPr indent="0" marL="0">
              <a:buNone/>
            </a:pPr>
            <a:r>
              <a:rPr lang="en-US" sz="1400" dirty="0">
                <a:solidFill>
                  <a:schemeClr val="tx1"/>
                </a:solidFill>
              </a:rPr>
              <a:t>Data-center sizes, tap data and costs are flagged as assumed.</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The single-line diagram is the heart of the app</a:t>
            </a:r>
            <a:endParaRPr lang="en-US" sz="3200" dirty="0"/>
          </a:p>
        </p:txBody>
      </p:sp>
      <p:pic>
        <p:nvPicPr>
          <p:cNvPr id="3" name="shot-02_circuit_original" descr="GridMind AI screenshot: 02 circuit original">    </p:cNvPr>
          <p:cNvPicPr>
            <a:picLocks noChangeAspect="1"/>
          </p:cNvPicPr>
          <p:nvPr/>
        </p:nvPicPr>
        <p:blipFill>
          <a:blip r:embed="rId1"/>
          <a:stretch>
            <a:fillRect/>
          </a:stretch>
        </p:blipFill>
        <p:spPr>
          <a:xfrm>
            <a:off x="548640" y="1371600"/>
            <a:ext cx="7498080" cy="4686300"/>
          </a:xfrm>
          <a:prstGeom prst="rect">
            <a:avLst/>
          </a:prstGeom>
          <a:effectLst>
            <a:outerShdw sx="100000" sy="100000" kx="0" ky="0" algn="bl" rotWithShape="0" blurRad="76200" dist="25400" dir="5400000">
              <a:srgbClr val="1B2A3A">
                <a:alpha val="18000"/>
              </a:srgbClr>
            </a:outerShdw>
          </a:effectLst>
        </p:spPr>
      </p:pic>
      <p:sp>
        <p:nvSpPr>
          <p:cNvPr id="4" name="frame-02_circuit_original"/>
          <p:cNvSpPr/>
          <p:nvPr/>
        </p:nvSpPr>
        <p:spPr>
          <a:xfrm>
            <a:off x="548640" y="1371600"/>
            <a:ext cx="7498080" cy="4686300"/>
          </a:xfrm>
          <a:prstGeom prst="rect">
            <a:avLst/>
          </a:prstGeom>
          <a:ln w="9525">
            <a:solidFill>
              <a:srgbClr val="C9D3DD"/>
            </a:solidFill>
            <a:prstDash val="solid"/>
          </a:ln>
        </p:spPr>
      </p:sp>
      <p:sp>
        <p:nvSpPr>
          <p:cNvPr id="5" name="dot-1-9.2"/>
          <p:cNvSpPr/>
          <p:nvPr/>
        </p:nvSpPr>
        <p:spPr>
          <a:xfrm>
            <a:off x="8412480" y="1463040"/>
            <a:ext cx="384048" cy="384048"/>
          </a:xfrm>
          <a:prstGeom prst="ellipse">
            <a:avLst/>
          </a:prstGeom>
          <a:solidFill>
            <a:schemeClr val="accent1"/>
          </a:solidFill>
          <a:ln/>
        </p:spPr>
      </p:sp>
      <p:sp>
        <p:nvSpPr>
          <p:cNvPr id="6" name="dotnum-1-9.2"/>
          <p:cNvSpPr txBox="1"/>
          <p:nvPr/>
        </p:nvSpPr>
        <p:spPr>
          <a:xfrm>
            <a:off x="8412480" y="14630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point-0"/>
          <p:cNvSpPr txBox="1"/>
          <p:nvPr/>
        </p:nvSpPr>
        <p:spPr>
          <a:xfrm>
            <a:off x="8942832" y="141732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Generated from the model</a:t>
            </a:r>
            <a:endParaRPr lang="en-US" sz="1600" dirty="0"/>
          </a:p>
          <a:p>
            <a:pPr indent="0" marL="0">
              <a:buNone/>
            </a:pPr>
            <a:r>
              <a:rPr lang="en-US" sz="1400" dirty="0">
                <a:solidFill>
                  <a:schemeClr val="tx1"/>
                </a:solidFill>
              </a:rPr>
              <a:t>Every bus, line, transformer, load and DC device, laid out from the topology.</a:t>
            </a:r>
            <a:endParaRPr lang="en-US" sz="1600" dirty="0"/>
          </a:p>
        </p:txBody>
      </p:sp>
      <p:sp>
        <p:nvSpPr>
          <p:cNvPr id="8" name="dot-2-9.2"/>
          <p:cNvSpPr/>
          <p:nvPr/>
        </p:nvSpPr>
        <p:spPr>
          <a:xfrm>
            <a:off x="8412480" y="2971800"/>
            <a:ext cx="384048" cy="384048"/>
          </a:xfrm>
          <a:prstGeom prst="ellipse">
            <a:avLst/>
          </a:prstGeom>
          <a:solidFill>
            <a:schemeClr val="accent1"/>
          </a:solidFill>
          <a:ln/>
        </p:spPr>
      </p:sp>
      <p:sp>
        <p:nvSpPr>
          <p:cNvPr id="9" name="dotnum-2-9.2"/>
          <p:cNvSpPr txBox="1"/>
          <p:nvPr/>
        </p:nvSpPr>
        <p:spPr>
          <a:xfrm>
            <a:off x="8412480" y="2971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point-1"/>
          <p:cNvSpPr txBox="1"/>
          <p:nvPr/>
        </p:nvSpPr>
        <p:spPr>
          <a:xfrm>
            <a:off x="8942832" y="292608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Violations in place</a:t>
            </a:r>
            <a:endParaRPr lang="en-US" sz="1600" dirty="0"/>
          </a:p>
          <a:p>
            <a:pPr indent="0" marL="0">
              <a:buNone/>
            </a:pPr>
            <a:r>
              <a:rPr lang="en-US" sz="1400" dirty="0">
                <a:solidFill>
                  <a:schemeClr val="tx1"/>
                </a:solidFill>
              </a:rPr>
              <a:t>Orange and red where limits are broken; open ties dashed.</a:t>
            </a:r>
            <a:endParaRPr lang="en-US" sz="1600" dirty="0"/>
          </a:p>
        </p:txBody>
      </p:sp>
      <p:sp>
        <p:nvSpPr>
          <p:cNvPr id="11" name="dot-3-9.2"/>
          <p:cNvSpPr/>
          <p:nvPr/>
        </p:nvSpPr>
        <p:spPr>
          <a:xfrm>
            <a:off x="8412480" y="4480560"/>
            <a:ext cx="384048" cy="384048"/>
          </a:xfrm>
          <a:prstGeom prst="ellipse">
            <a:avLst/>
          </a:prstGeom>
          <a:solidFill>
            <a:schemeClr val="accent1"/>
          </a:solidFill>
          <a:ln/>
        </p:spPr>
      </p:sp>
      <p:sp>
        <p:nvSpPr>
          <p:cNvPr id="12" name="dotnum-3-9.2"/>
          <p:cNvSpPr txBox="1"/>
          <p:nvPr/>
        </p:nvSpPr>
        <p:spPr>
          <a:xfrm>
            <a:off x="8412480" y="44805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point-2"/>
          <p:cNvSpPr txBox="1"/>
          <p:nvPr/>
        </p:nvSpPr>
        <p:spPr>
          <a:xfrm>
            <a:off x="8942832" y="443484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3 states, 10 layers</a:t>
            </a:r>
            <a:endParaRPr lang="en-US" sz="1600" dirty="0"/>
          </a:p>
          <a:p>
            <a:pPr indent="0" marL="0">
              <a:buNone/>
            </a:pPr>
            <a:r>
              <a:rPr lang="en-US" sz="1400" dirty="0">
                <a:solidFill>
                  <a:schemeClr val="tx1"/>
                </a:solidFill>
              </a:rPr>
              <a:t>Original, Proposed, Verified × voltage, loading, current, P, Q, losses and more.</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Click any component to see every parameter and value</a:t>
            </a:r>
            <a:endParaRPr lang="en-US" sz="3200" dirty="0"/>
          </a:p>
        </p:txBody>
      </p:sp>
      <p:pic>
        <p:nvPicPr>
          <p:cNvPr id="3" name="shot-02c_circuit_detail" descr="GridMind AI screenshot: 02c circuit detail">    </p:cNvPr>
          <p:cNvPicPr>
            <a:picLocks noChangeAspect="1"/>
          </p:cNvPicPr>
          <p:nvPr/>
        </p:nvPicPr>
        <p:blipFill>
          <a:blip r:embed="rId1"/>
          <a:stretch>
            <a:fillRect/>
          </a:stretch>
        </p:blipFill>
        <p:spPr>
          <a:xfrm>
            <a:off x="548640" y="1371600"/>
            <a:ext cx="7498080" cy="4686300"/>
          </a:xfrm>
          <a:prstGeom prst="rect">
            <a:avLst/>
          </a:prstGeom>
          <a:effectLst>
            <a:outerShdw sx="100000" sy="100000" kx="0" ky="0" algn="bl" rotWithShape="0" blurRad="76200" dist="25400" dir="5400000">
              <a:srgbClr val="1B2A3A">
                <a:alpha val="18000"/>
              </a:srgbClr>
            </a:outerShdw>
          </a:effectLst>
        </p:spPr>
      </p:pic>
      <p:sp>
        <p:nvSpPr>
          <p:cNvPr id="4" name="frame-02c_circuit_detail"/>
          <p:cNvSpPr/>
          <p:nvPr/>
        </p:nvSpPr>
        <p:spPr>
          <a:xfrm>
            <a:off x="548640" y="1371600"/>
            <a:ext cx="7498080" cy="4686300"/>
          </a:xfrm>
          <a:prstGeom prst="rect">
            <a:avLst/>
          </a:prstGeom>
          <a:ln w="9525">
            <a:solidFill>
              <a:srgbClr val="C9D3DD"/>
            </a:solidFill>
            <a:prstDash val="solid"/>
          </a:ln>
        </p:spPr>
      </p:sp>
      <p:sp>
        <p:nvSpPr>
          <p:cNvPr id="5" name="dot-1-9.2"/>
          <p:cNvSpPr/>
          <p:nvPr/>
        </p:nvSpPr>
        <p:spPr>
          <a:xfrm>
            <a:off x="8412480" y="1463040"/>
            <a:ext cx="384048" cy="384048"/>
          </a:xfrm>
          <a:prstGeom prst="ellipse">
            <a:avLst/>
          </a:prstGeom>
          <a:solidFill>
            <a:schemeClr val="accent1"/>
          </a:solidFill>
          <a:ln/>
        </p:spPr>
      </p:sp>
      <p:sp>
        <p:nvSpPr>
          <p:cNvPr id="6" name="dotnum-1-9.2"/>
          <p:cNvSpPr txBox="1"/>
          <p:nvPr/>
        </p:nvSpPr>
        <p:spPr>
          <a:xfrm>
            <a:off x="8412480" y="14630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point-0"/>
          <p:cNvSpPr txBox="1"/>
          <p:nvPr/>
        </p:nvSpPr>
        <p:spPr>
          <a:xfrm>
            <a:off x="8942832" y="141732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Inputs vs assumptions</a:t>
            </a:r>
            <a:endParaRPr lang="en-US" sz="1600" dirty="0"/>
          </a:p>
          <a:p>
            <a:pPr indent="0" marL="0">
              <a:buNone/>
            </a:pPr>
            <a:r>
              <a:rPr lang="en-US" sz="1400" dirty="0">
                <a:solidFill>
                  <a:schemeClr val="tx1"/>
                </a:solidFill>
              </a:rPr>
              <a:t>Each parameter tagged input, assumed or missing.</a:t>
            </a:r>
            <a:endParaRPr lang="en-US" sz="1600" dirty="0"/>
          </a:p>
        </p:txBody>
      </p:sp>
      <p:sp>
        <p:nvSpPr>
          <p:cNvPr id="8" name="dot-2-9.2"/>
          <p:cNvSpPr/>
          <p:nvPr/>
        </p:nvSpPr>
        <p:spPr>
          <a:xfrm>
            <a:off x="8412480" y="2971800"/>
            <a:ext cx="384048" cy="384048"/>
          </a:xfrm>
          <a:prstGeom prst="ellipse">
            <a:avLst/>
          </a:prstGeom>
          <a:solidFill>
            <a:schemeClr val="accent1"/>
          </a:solidFill>
          <a:ln/>
        </p:spPr>
      </p:sp>
      <p:sp>
        <p:nvSpPr>
          <p:cNvPr id="9" name="dotnum-2-9.2"/>
          <p:cNvSpPr txBox="1"/>
          <p:nvPr/>
        </p:nvSpPr>
        <p:spPr>
          <a:xfrm>
            <a:off x="8412480" y="2971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point-1"/>
          <p:cNvSpPr txBox="1"/>
          <p:nvPr/>
        </p:nvSpPr>
        <p:spPr>
          <a:xfrm>
            <a:off x="8942832" y="292608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Calculated values</a:t>
            </a:r>
            <a:endParaRPr lang="en-US" sz="1600" dirty="0"/>
          </a:p>
          <a:p>
            <a:pPr indent="0" marL="0">
              <a:buNone/>
            </a:pPr>
            <a:r>
              <a:rPr lang="en-US" sz="1400" dirty="0">
                <a:solidFill>
                  <a:schemeClr val="tx1"/>
                </a:solidFill>
              </a:rPr>
              <a:t>Voltage in pu and kV, angle, P and Q from the solver.</a:t>
            </a:r>
            <a:endParaRPr lang="en-US" sz="1600" dirty="0"/>
          </a:p>
        </p:txBody>
      </p:sp>
      <p:sp>
        <p:nvSpPr>
          <p:cNvPr id="11" name="dot-3-9.2"/>
          <p:cNvSpPr/>
          <p:nvPr/>
        </p:nvSpPr>
        <p:spPr>
          <a:xfrm>
            <a:off x="8412480" y="4480560"/>
            <a:ext cx="384048" cy="384048"/>
          </a:xfrm>
          <a:prstGeom prst="ellipse">
            <a:avLst/>
          </a:prstGeom>
          <a:solidFill>
            <a:schemeClr val="accent1"/>
          </a:solidFill>
          <a:ln/>
        </p:spPr>
      </p:sp>
      <p:sp>
        <p:nvSpPr>
          <p:cNvPr id="12" name="dotnum-3-9.2"/>
          <p:cNvSpPr txBox="1"/>
          <p:nvPr/>
        </p:nvSpPr>
        <p:spPr>
          <a:xfrm>
            <a:off x="8412480" y="44805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point-2"/>
          <p:cNvSpPr txBox="1"/>
          <p:nvPr/>
        </p:nvSpPr>
        <p:spPr>
          <a:xfrm>
            <a:off x="8942832" y="443484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Context</a:t>
            </a:r>
            <a:endParaRPr lang="en-US" sz="1600" dirty="0"/>
          </a:p>
          <a:p>
            <a:pPr indent="0" marL="0">
              <a:buNone/>
            </a:pPr>
            <a:r>
              <a:rPr lang="en-US" sz="1400" dirty="0">
                <a:solidFill>
                  <a:schemeClr val="tx1"/>
                </a:solidFill>
              </a:rPr>
              <a:t>Detected problems with root cause, supply path from the grid, and history.</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Agents work live, and every task is recorded</a:t>
            </a:r>
            <a:endParaRPr lang="en-US" sz="3200" dirty="0"/>
          </a:p>
        </p:txBody>
      </p:sp>
      <p:pic>
        <p:nvPicPr>
          <p:cNvPr id="3" name="shot-06_agents" descr="GridMind AI screenshot: 06 agents">    </p:cNvPr>
          <p:cNvPicPr>
            <a:picLocks noChangeAspect="1"/>
          </p:cNvPicPr>
          <p:nvPr/>
        </p:nvPicPr>
        <p:blipFill>
          <a:blip r:embed="rId1"/>
          <a:stretch>
            <a:fillRect/>
          </a:stretch>
        </p:blipFill>
        <p:spPr>
          <a:xfrm>
            <a:off x="548640" y="1371600"/>
            <a:ext cx="7498080" cy="4686300"/>
          </a:xfrm>
          <a:prstGeom prst="rect">
            <a:avLst/>
          </a:prstGeom>
          <a:effectLst>
            <a:outerShdw sx="100000" sy="100000" kx="0" ky="0" algn="bl" rotWithShape="0" blurRad="76200" dist="25400" dir="5400000">
              <a:srgbClr val="1B2A3A">
                <a:alpha val="18000"/>
              </a:srgbClr>
            </a:outerShdw>
          </a:effectLst>
        </p:spPr>
      </p:pic>
      <p:sp>
        <p:nvSpPr>
          <p:cNvPr id="4" name="frame-06_agents"/>
          <p:cNvSpPr/>
          <p:nvPr/>
        </p:nvSpPr>
        <p:spPr>
          <a:xfrm>
            <a:off x="548640" y="1371600"/>
            <a:ext cx="7498080" cy="4686300"/>
          </a:xfrm>
          <a:prstGeom prst="rect">
            <a:avLst/>
          </a:prstGeom>
          <a:ln w="9525">
            <a:solidFill>
              <a:srgbClr val="C9D3DD"/>
            </a:solidFill>
            <a:prstDash val="solid"/>
          </a:ln>
        </p:spPr>
      </p:sp>
      <p:sp>
        <p:nvSpPr>
          <p:cNvPr id="5" name="dot-1-9.2"/>
          <p:cNvSpPr/>
          <p:nvPr/>
        </p:nvSpPr>
        <p:spPr>
          <a:xfrm>
            <a:off x="8412480" y="1463040"/>
            <a:ext cx="384048" cy="384048"/>
          </a:xfrm>
          <a:prstGeom prst="ellipse">
            <a:avLst/>
          </a:prstGeom>
          <a:solidFill>
            <a:schemeClr val="accent1"/>
          </a:solidFill>
          <a:ln/>
        </p:spPr>
      </p:sp>
      <p:sp>
        <p:nvSpPr>
          <p:cNvPr id="6" name="dotnum-1-9.2"/>
          <p:cNvSpPr txBox="1"/>
          <p:nvPr/>
        </p:nvSpPr>
        <p:spPr>
          <a:xfrm>
            <a:off x="8412480" y="14630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point-0"/>
          <p:cNvSpPr txBox="1"/>
          <p:nvPr/>
        </p:nvSpPr>
        <p:spPr>
          <a:xfrm>
            <a:off x="8942832" y="141732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Real outputs</a:t>
            </a:r>
            <a:endParaRPr lang="en-US" sz="1600" dirty="0"/>
          </a:p>
          <a:p>
            <a:pPr indent="0" marL="0">
              <a:buNone/>
            </a:pPr>
            <a:r>
              <a:rPr lang="en-US" sz="1400" dirty="0">
                <a:solidFill>
                  <a:schemeClr val="tx1"/>
                </a:solidFill>
              </a:rPr>
              <a:t>Each card shows the agent's actual result and duration.</a:t>
            </a:r>
            <a:endParaRPr lang="en-US" sz="1600" dirty="0"/>
          </a:p>
        </p:txBody>
      </p:sp>
      <p:sp>
        <p:nvSpPr>
          <p:cNvPr id="8" name="dot-2-9.2"/>
          <p:cNvSpPr/>
          <p:nvPr/>
        </p:nvSpPr>
        <p:spPr>
          <a:xfrm>
            <a:off x="8412480" y="2971800"/>
            <a:ext cx="384048" cy="384048"/>
          </a:xfrm>
          <a:prstGeom prst="ellipse">
            <a:avLst/>
          </a:prstGeom>
          <a:solidFill>
            <a:schemeClr val="accent1"/>
          </a:solidFill>
          <a:ln/>
        </p:spPr>
      </p:sp>
      <p:sp>
        <p:nvSpPr>
          <p:cNvPr id="9" name="dotnum-2-9.2"/>
          <p:cNvSpPr txBox="1"/>
          <p:nvPr/>
        </p:nvSpPr>
        <p:spPr>
          <a:xfrm>
            <a:off x="8412480" y="2971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point-1"/>
          <p:cNvSpPr txBox="1"/>
          <p:nvPr/>
        </p:nvSpPr>
        <p:spPr>
          <a:xfrm>
            <a:off x="8942832" y="292608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Parallel diagnosis</a:t>
            </a:r>
            <a:endParaRPr lang="en-US" sz="1600" dirty="0"/>
          </a:p>
          <a:p>
            <a:pPr indent="0" marL="0">
              <a:buNone/>
            </a:pPr>
            <a:r>
              <a:rPr lang="en-US" sz="1400" dirty="0">
                <a:solidFill>
                  <a:schemeClr val="tx1"/>
                </a:solidFill>
              </a:rPr>
              <a:t>Root Cause, Data Center and Learning run at the same time.</a:t>
            </a:r>
            <a:endParaRPr lang="en-US" sz="1600" dirty="0"/>
          </a:p>
        </p:txBody>
      </p:sp>
      <p:sp>
        <p:nvSpPr>
          <p:cNvPr id="11" name="dot-3-9.2"/>
          <p:cNvSpPr/>
          <p:nvPr/>
        </p:nvSpPr>
        <p:spPr>
          <a:xfrm>
            <a:off x="8412480" y="4480560"/>
            <a:ext cx="384048" cy="384048"/>
          </a:xfrm>
          <a:prstGeom prst="ellipse">
            <a:avLst/>
          </a:prstGeom>
          <a:solidFill>
            <a:schemeClr val="accent1"/>
          </a:solidFill>
          <a:ln/>
        </p:spPr>
      </p:sp>
      <p:sp>
        <p:nvSpPr>
          <p:cNvPr id="12" name="dotnum-3-9.2"/>
          <p:cNvSpPr txBox="1"/>
          <p:nvPr/>
        </p:nvSpPr>
        <p:spPr>
          <a:xfrm>
            <a:off x="8412480" y="44805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point-2"/>
          <p:cNvSpPr txBox="1"/>
          <p:nvPr/>
        </p:nvSpPr>
        <p:spPr>
          <a:xfrm>
            <a:off x="8942832" y="443484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Resumable</a:t>
            </a:r>
            <a:endParaRPr lang="en-US" sz="1600" dirty="0"/>
          </a:p>
          <a:p>
            <a:pPr indent="0" marL="0">
              <a:buNone/>
            </a:pPr>
            <a:r>
              <a:rPr lang="en-US" sz="1400" dirty="0">
                <a:solidFill>
                  <a:schemeClr val="tx1"/>
                </a:solidFill>
              </a:rPr>
              <a:t>Run state is saved after every step in MongoDB.</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Diagnosis explains why; remedies are sized by simulation</a:t>
            </a:r>
            <a:endParaRPr lang="en-US" sz="3200" dirty="0"/>
          </a:p>
        </p:txBody>
      </p:sp>
      <p:pic>
        <p:nvPicPr>
          <p:cNvPr id="3" name="shot-05_rootcause" descr="GridMind AI screenshot: 05 rootcause">    </p:cNvPr>
          <p:cNvPicPr>
            <a:picLocks noChangeAspect="1"/>
          </p:cNvPicPr>
          <p:nvPr/>
        </p:nvPicPr>
        <p:blipFill>
          <a:blip r:embed="rId1"/>
          <a:stretch>
            <a:fillRect/>
          </a:stretch>
        </p:blipFill>
        <p:spPr>
          <a:xfrm>
            <a:off x="548640" y="1371600"/>
            <a:ext cx="5440680" cy="3400425"/>
          </a:xfrm>
          <a:prstGeom prst="rect">
            <a:avLst/>
          </a:prstGeom>
          <a:effectLst>
            <a:outerShdw sx="100000" sy="100000" kx="0" ky="0" algn="bl" rotWithShape="0" blurRad="76200" dist="25400" dir="5400000">
              <a:srgbClr val="1B2A3A">
                <a:alpha val="18000"/>
              </a:srgbClr>
            </a:outerShdw>
          </a:effectLst>
        </p:spPr>
      </p:pic>
      <p:sp>
        <p:nvSpPr>
          <p:cNvPr id="4" name="frame-05_rootcause"/>
          <p:cNvSpPr/>
          <p:nvPr/>
        </p:nvSpPr>
        <p:spPr>
          <a:xfrm>
            <a:off x="548640" y="1371600"/>
            <a:ext cx="5440680" cy="3400425"/>
          </a:xfrm>
          <a:prstGeom prst="rect">
            <a:avLst/>
          </a:prstGeom>
          <a:ln w="9525">
            <a:solidFill>
              <a:srgbClr val="C9D3DD"/>
            </a:solidFill>
            <a:prstDash val="solid"/>
          </a:ln>
        </p:spPr>
      </p:sp>
      <p:pic>
        <p:nvPicPr>
          <p:cNvPr id="5" name="shot-07_actions" descr="GridMind AI screenshot: 07 actions">    </p:cNvPr>
          <p:cNvPicPr>
            <a:picLocks noChangeAspect="1"/>
          </p:cNvPicPr>
          <p:nvPr/>
        </p:nvPicPr>
        <p:blipFill>
          <a:blip r:embed="rId2"/>
          <a:stretch>
            <a:fillRect/>
          </a:stretch>
        </p:blipFill>
        <p:spPr>
          <a:xfrm>
            <a:off x="6172200" y="1371600"/>
            <a:ext cx="5440680" cy="3400425"/>
          </a:xfrm>
          <a:prstGeom prst="rect">
            <a:avLst/>
          </a:prstGeom>
          <a:effectLst>
            <a:outerShdw sx="100000" sy="100000" kx="0" ky="0" algn="bl" rotWithShape="0" blurRad="76200" dist="25400" dir="5400000">
              <a:srgbClr val="1B2A3A">
                <a:alpha val="18000"/>
              </a:srgbClr>
            </a:outerShdw>
          </a:effectLst>
        </p:spPr>
      </p:pic>
      <p:sp>
        <p:nvSpPr>
          <p:cNvPr id="6" name="frame-07_actions"/>
          <p:cNvSpPr/>
          <p:nvPr/>
        </p:nvSpPr>
        <p:spPr>
          <a:xfrm>
            <a:off x="6172200" y="1371600"/>
            <a:ext cx="5440680" cy="3400425"/>
          </a:xfrm>
          <a:prstGeom prst="rect">
            <a:avLst/>
          </a:prstGeom>
          <a:ln w="9525">
            <a:solidFill>
              <a:srgbClr val="C9D3DD"/>
            </a:solidFill>
            <a:prstDash val="solid"/>
          </a:ln>
        </p:spPr>
      </p:sp>
      <p:sp>
        <p:nvSpPr>
          <p:cNvPr id="7" name="cap-0.6-5.35"/>
          <p:cNvSpPr txBox="1"/>
          <p:nvPr/>
        </p:nvSpPr>
        <p:spPr>
          <a:xfrm>
            <a:off x="548640" y="4892040"/>
            <a:ext cx="5440680" cy="365760"/>
          </a:xfrm>
          <a:prstGeom prst="rect">
            <a:avLst/>
          </a:prstGeom>
          <a:noFill/>
          <a:ln/>
        </p:spPr>
        <p:txBody>
          <a:bodyPr wrap="square" lIns="0" tIns="0" rIns="0" bIns="0" rtlCol="0" anchor="ctr"/>
          <a:lstStyle/>
          <a:p>
            <a:pPr indent="0" marL="0">
              <a:buNone/>
            </a:pPr>
            <a:r>
              <a:rPr lang="en-US" sz="1200" i="1" dirty="0">
                <a:solidFill>
                  <a:schemeClr val="tx1"/>
                </a:solidFill>
              </a:rPr>
              <a:t>Root cause: voltage drop on each supply-path segment split into R×P and X×Q parts</a:t>
            </a:r>
            <a:endParaRPr lang="en-US" sz="1200" dirty="0"/>
          </a:p>
        </p:txBody>
      </p:sp>
      <p:sp>
        <p:nvSpPr>
          <p:cNvPr id="8" name="cap-6.75-5.35"/>
          <p:cNvSpPr txBox="1"/>
          <p:nvPr/>
        </p:nvSpPr>
        <p:spPr>
          <a:xfrm>
            <a:off x="6172200" y="4892040"/>
            <a:ext cx="5440680" cy="365760"/>
          </a:xfrm>
          <a:prstGeom prst="rect">
            <a:avLst/>
          </a:prstGeom>
          <a:noFill/>
          <a:ln/>
        </p:spPr>
        <p:txBody>
          <a:bodyPr wrap="square" lIns="0" tIns="0" rIns="0" bIns="0" rtlCol="0" anchor="ctr"/>
          <a:lstStyle/>
          <a:p>
            <a:pPr indent="0" marL="0">
              <a:buNone/>
            </a:pPr>
            <a:r>
              <a:rPr lang="en-US" sz="1200" i="1" dirty="0">
                <a:solidFill>
                  <a:schemeClr val="tx1"/>
                </a:solidFill>
              </a:rPr>
              <a:t>Corrective actions: 19 sized candidates and ranked plans with trade-offs</a:t>
            </a:r>
            <a:endParaRPr lang="en-US" sz="1200" dirty="0"/>
          </a:p>
        </p:txBody>
      </p:sp>
      <p:sp>
        <p:nvSpPr>
          <p:cNvPr id="9" name="remedy-note"/>
          <p:cNvSpPr txBox="1"/>
          <p:nvPr/>
        </p:nvSpPr>
        <p:spPr>
          <a:xfrm>
            <a:off x="548640" y="5440680"/>
            <a:ext cx="11064240" cy="731520"/>
          </a:xfrm>
          <a:prstGeom prst="rect">
            <a:avLst/>
          </a:prstGeom>
          <a:noFill/>
          <a:ln/>
        </p:spPr>
        <p:txBody>
          <a:bodyPr wrap="square" lIns="0" tIns="0" rIns="0" bIns="0" rtlCol="0" anchor="ctr"/>
          <a:lstStyle/>
          <a:p>
            <a:pPr indent="0" marL="0">
              <a:buNone/>
            </a:pPr>
            <a:r>
              <a:rPr lang="en-US" sz="1500" dirty="0">
                <a:solidFill>
                  <a:schemeClr val="tx1"/>
                </a:solidFill>
              </a:rPr>
              <a:t>Capacitors are used only for undervoltage or reactive flow; taps are chosen by sweeping every position; transformers go to the next standard size.</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Proposed changes are drawn, then verified independently</a:t>
            </a:r>
            <a:endParaRPr lang="en-US" sz="3200" dirty="0"/>
          </a:p>
        </p:txBody>
      </p:sp>
      <p:pic>
        <p:nvPicPr>
          <p:cNvPr id="3" name="shot-02d_circuit_proposed" descr="GridMind AI screenshot: 02d circuit proposed">    </p:cNvPr>
          <p:cNvPicPr>
            <a:picLocks noChangeAspect="1"/>
          </p:cNvPicPr>
          <p:nvPr/>
        </p:nvPicPr>
        <p:blipFill>
          <a:blip r:embed="rId1"/>
          <a:stretch>
            <a:fillRect/>
          </a:stretch>
        </p:blipFill>
        <p:spPr>
          <a:xfrm>
            <a:off x="548640" y="1371600"/>
            <a:ext cx="5440680" cy="3400425"/>
          </a:xfrm>
          <a:prstGeom prst="rect">
            <a:avLst/>
          </a:prstGeom>
          <a:effectLst>
            <a:outerShdw sx="100000" sy="100000" kx="0" ky="0" algn="bl" rotWithShape="0" blurRad="76200" dist="25400" dir="5400000">
              <a:srgbClr val="1B2A3A">
                <a:alpha val="18000"/>
              </a:srgbClr>
            </a:outerShdw>
          </a:effectLst>
        </p:spPr>
      </p:pic>
      <p:sp>
        <p:nvSpPr>
          <p:cNvPr id="4" name="frame-02d_circuit_proposed"/>
          <p:cNvSpPr/>
          <p:nvPr/>
        </p:nvSpPr>
        <p:spPr>
          <a:xfrm>
            <a:off x="548640" y="1371600"/>
            <a:ext cx="5440680" cy="3400425"/>
          </a:xfrm>
          <a:prstGeom prst="rect">
            <a:avLst/>
          </a:prstGeom>
          <a:ln w="9525">
            <a:solidFill>
              <a:srgbClr val="C9D3DD"/>
            </a:solidFill>
            <a:prstDash val="solid"/>
          </a:ln>
        </p:spPr>
      </p:sp>
      <p:pic>
        <p:nvPicPr>
          <p:cNvPr id="5" name="shot-02e_circuit_verified" descr="GridMind AI screenshot: 02e circuit verified">    </p:cNvPr>
          <p:cNvPicPr>
            <a:picLocks noChangeAspect="1"/>
          </p:cNvPicPr>
          <p:nvPr/>
        </p:nvPicPr>
        <p:blipFill>
          <a:blip r:embed="rId2"/>
          <a:stretch>
            <a:fillRect/>
          </a:stretch>
        </p:blipFill>
        <p:spPr>
          <a:xfrm>
            <a:off x="6172200" y="1371600"/>
            <a:ext cx="5440680" cy="3400425"/>
          </a:xfrm>
          <a:prstGeom prst="rect">
            <a:avLst/>
          </a:prstGeom>
          <a:effectLst>
            <a:outerShdw sx="100000" sy="100000" kx="0" ky="0" algn="bl" rotWithShape="0" blurRad="76200" dist="25400" dir="5400000">
              <a:srgbClr val="1B2A3A">
                <a:alpha val="18000"/>
              </a:srgbClr>
            </a:outerShdw>
          </a:effectLst>
        </p:spPr>
      </p:pic>
      <p:sp>
        <p:nvSpPr>
          <p:cNvPr id="6" name="frame-02e_circuit_verified"/>
          <p:cNvSpPr/>
          <p:nvPr/>
        </p:nvSpPr>
        <p:spPr>
          <a:xfrm>
            <a:off x="6172200" y="1371600"/>
            <a:ext cx="5440680" cy="3400425"/>
          </a:xfrm>
          <a:prstGeom prst="rect">
            <a:avLst/>
          </a:prstGeom>
          <a:ln w="9525">
            <a:solidFill>
              <a:srgbClr val="C9D3DD"/>
            </a:solidFill>
            <a:prstDash val="solid"/>
          </a:ln>
        </p:spPr>
      </p:sp>
      <p:sp>
        <p:nvSpPr>
          <p:cNvPr id="7" name="cap-0.6-5.35"/>
          <p:cNvSpPr txBox="1"/>
          <p:nvPr/>
        </p:nvSpPr>
        <p:spPr>
          <a:xfrm>
            <a:off x="548640" y="4892040"/>
            <a:ext cx="5440680" cy="365760"/>
          </a:xfrm>
          <a:prstGeom prst="rect">
            <a:avLst/>
          </a:prstGeom>
          <a:noFill/>
          <a:ln/>
        </p:spPr>
        <p:txBody>
          <a:bodyPr wrap="square" lIns="0" tIns="0" rIns="0" bIns="0" rtlCol="0" anchor="ctr"/>
          <a:lstStyle/>
          <a:p>
            <a:pPr indent="0" marL="0">
              <a:buNone/>
            </a:pPr>
            <a:r>
              <a:rPr lang="en-US" sz="1200" i="1" dirty="0">
                <a:solidFill>
                  <a:schemeClr val="tx1"/>
                </a:solidFill>
              </a:rPr>
              <a:t>B · Proposed: new capacitor, tap change, DC load shift and battery in purple</a:t>
            </a:r>
            <a:endParaRPr lang="en-US" sz="1200" dirty="0"/>
          </a:p>
        </p:txBody>
      </p:sp>
      <p:sp>
        <p:nvSpPr>
          <p:cNvPr id="8" name="cap-6.75-5.35"/>
          <p:cNvSpPr txBox="1"/>
          <p:nvPr/>
        </p:nvSpPr>
        <p:spPr>
          <a:xfrm>
            <a:off x="6172200" y="4892040"/>
            <a:ext cx="5440680" cy="365760"/>
          </a:xfrm>
          <a:prstGeom prst="rect">
            <a:avLst/>
          </a:prstGeom>
          <a:noFill/>
          <a:ln/>
        </p:spPr>
        <p:txBody>
          <a:bodyPr wrap="square" lIns="0" tIns="0" rIns="0" bIns="0" rtlCol="0" anchor="ctr"/>
          <a:lstStyle/>
          <a:p>
            <a:pPr indent="0" marL="0">
              <a:buNone/>
            </a:pPr>
            <a:r>
              <a:rPr lang="en-US" sz="1200" i="1" dirty="0">
                <a:solidFill>
                  <a:schemeClr val="tx1"/>
                </a:solidFill>
              </a:rPr>
              <a:t>C · Verified: re-solved from MongoDB at peak and light load, 0 violations</a:t>
            </a:r>
            <a:endParaRPr lang="en-US" sz="1200" dirty="0"/>
          </a:p>
        </p:txBody>
      </p:sp>
      <p:sp>
        <p:nvSpPr>
          <p:cNvPr id="9" name="plan-line"/>
          <p:cNvSpPr txBox="1"/>
          <p:nvPr/>
        </p:nvSpPr>
        <p:spPr>
          <a:xfrm>
            <a:off x="548640" y="5440680"/>
            <a:ext cx="11064240" cy="731520"/>
          </a:xfrm>
          <a:prstGeom prst="rect">
            <a:avLst/>
          </a:prstGeom>
          <a:noFill/>
          <a:ln/>
        </p:spPr>
        <p:txBody>
          <a:bodyPr wrap="square" lIns="0" tIns="0" rIns="0" bIns="0" rtlCol="0" anchor="ctr"/>
          <a:lstStyle/>
          <a:p>
            <a:pPr indent="0" marL="0">
              <a:buNone/>
            </a:pPr>
            <a:r>
              <a:rPr lang="en-US" sz="1400" b="1" dirty="0">
                <a:solidFill>
                  <a:schemeClr val="tx2"/>
                </a:solidFill>
              </a:rPr>
              <a:t>Install a 1,500 kvar capacitor bank at bus B11  ·  Raise the OLTC of transformer T0-12 by 3 steps (tap 0 to -3, about +4.5 % voltage)  ·  Shift 0.35 MW of the AI-training cluster out of the evening peak  ·  Discharge the on-site battery (BESS-DC) at 0.47 MW for the 3-hour peak</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Before / after: 17 resolved, 0 remaining, 0 new</a:t>
            </a:r>
            <a:endParaRPr lang="en-US" sz="3200" dirty="0"/>
          </a:p>
        </p:txBody>
      </p:sp>
      <p:pic>
        <p:nvPicPr>
          <p:cNvPr id="3" name="shot-08_compare" descr="GridMind AI screenshot: 08 compare">    </p:cNvPr>
          <p:cNvPicPr>
            <a:picLocks noChangeAspect="1"/>
          </p:cNvPicPr>
          <p:nvPr/>
        </p:nvPicPr>
        <p:blipFill>
          <a:blip r:embed="rId1"/>
          <a:stretch>
            <a:fillRect/>
          </a:stretch>
        </p:blipFill>
        <p:spPr>
          <a:xfrm>
            <a:off x="548640" y="1371600"/>
            <a:ext cx="7498080" cy="4686300"/>
          </a:xfrm>
          <a:prstGeom prst="rect">
            <a:avLst/>
          </a:prstGeom>
          <a:effectLst>
            <a:outerShdw sx="100000" sy="100000" kx="0" ky="0" algn="bl" rotWithShape="0" blurRad="76200" dist="25400" dir="5400000">
              <a:srgbClr val="1B2A3A">
                <a:alpha val="18000"/>
              </a:srgbClr>
            </a:outerShdw>
          </a:effectLst>
        </p:spPr>
      </p:pic>
      <p:sp>
        <p:nvSpPr>
          <p:cNvPr id="4" name="frame-08_compare"/>
          <p:cNvSpPr/>
          <p:nvPr/>
        </p:nvSpPr>
        <p:spPr>
          <a:xfrm>
            <a:off x="548640" y="1371600"/>
            <a:ext cx="7498080" cy="4686300"/>
          </a:xfrm>
          <a:prstGeom prst="rect">
            <a:avLst/>
          </a:prstGeom>
          <a:ln w="9525">
            <a:solidFill>
              <a:srgbClr val="C9D3DD"/>
            </a:solidFill>
            <a:prstDash val="solid"/>
          </a:ln>
        </p:spPr>
      </p:sp>
      <p:sp>
        <p:nvSpPr>
          <p:cNvPr id="5" name="stat-bg-Min voltage (was 0.8949 pu)"/>
          <p:cNvSpPr/>
          <p:nvPr/>
        </p:nvSpPr>
        <p:spPr>
          <a:xfrm>
            <a:off x="8412480" y="1371600"/>
            <a:ext cx="3200400" cy="1417320"/>
          </a:xfrm>
          <a:prstGeom prst="roundRect">
            <a:avLst>
              <a:gd name="adj" fmla="val 7742"/>
            </a:avLst>
          </a:prstGeom>
          <a:solidFill>
            <a:schemeClr val="bg2"/>
          </a:solidFill>
          <a:ln/>
        </p:spPr>
      </p:sp>
      <p:sp>
        <p:nvSpPr>
          <p:cNvPr id="6" name="stat-v-Min voltage (was 0.8949 pu)"/>
          <p:cNvSpPr txBox="1"/>
          <p:nvPr/>
        </p:nvSpPr>
        <p:spPr>
          <a:xfrm>
            <a:off x="8641080" y="1481328"/>
            <a:ext cx="2743200" cy="777240"/>
          </a:xfrm>
          <a:prstGeom prst="rect">
            <a:avLst/>
          </a:prstGeom>
          <a:noFill/>
          <a:ln/>
        </p:spPr>
        <p:txBody>
          <a:bodyPr wrap="square" lIns="0" tIns="0" rIns="0" bIns="0" rtlCol="0" anchor="ctr"/>
          <a:lstStyle/>
          <a:p>
            <a:pPr indent="0" marL="0">
              <a:buNone/>
            </a:pPr>
            <a:r>
              <a:rPr lang="en-US" sz="4000" b="1" dirty="0">
                <a:solidFill>
                  <a:schemeClr val="accent3"/>
                </a:solidFill>
              </a:rPr>
              <a:t>0.9534</a:t>
            </a:r>
            <a:endParaRPr lang="en-US" sz="4000" dirty="0"/>
          </a:p>
        </p:txBody>
      </p:sp>
      <p:sp>
        <p:nvSpPr>
          <p:cNvPr id="7" name="stat-l-Min voltage (was 0.8949 pu)"/>
          <p:cNvSpPr txBox="1"/>
          <p:nvPr/>
        </p:nvSpPr>
        <p:spPr>
          <a:xfrm>
            <a:off x="8641080" y="2240280"/>
            <a:ext cx="2743200" cy="457200"/>
          </a:xfrm>
          <a:prstGeom prst="rect">
            <a:avLst/>
          </a:prstGeom>
          <a:noFill/>
          <a:ln/>
        </p:spPr>
        <p:txBody>
          <a:bodyPr wrap="square" lIns="0" tIns="0" rIns="0" bIns="0" rtlCol="0" anchor="ctr"/>
          <a:lstStyle/>
          <a:p>
            <a:pPr indent="0" marL="0">
              <a:buNone/>
            </a:pPr>
            <a:r>
              <a:rPr lang="en-US" sz="1300" dirty="0">
                <a:solidFill>
                  <a:schemeClr val="tx1"/>
                </a:solidFill>
              </a:rPr>
              <a:t>Min voltage (was 0.8949 pu)</a:t>
            </a:r>
            <a:endParaRPr lang="en-US" sz="1300" dirty="0"/>
          </a:p>
        </p:txBody>
      </p:sp>
      <p:sp>
        <p:nvSpPr>
          <p:cNvPr id="8" name="stat-bg-Network losses (was 0.654 MW)"/>
          <p:cNvSpPr/>
          <p:nvPr/>
        </p:nvSpPr>
        <p:spPr>
          <a:xfrm>
            <a:off x="8412480" y="2926080"/>
            <a:ext cx="3200400" cy="1417320"/>
          </a:xfrm>
          <a:prstGeom prst="roundRect">
            <a:avLst>
              <a:gd name="adj" fmla="val 7742"/>
            </a:avLst>
          </a:prstGeom>
          <a:solidFill>
            <a:schemeClr val="bg2"/>
          </a:solidFill>
          <a:ln/>
        </p:spPr>
      </p:sp>
      <p:sp>
        <p:nvSpPr>
          <p:cNvPr id="9" name="stat-v-Network losses (was 0.654 MW)"/>
          <p:cNvSpPr txBox="1"/>
          <p:nvPr/>
        </p:nvSpPr>
        <p:spPr>
          <a:xfrm>
            <a:off x="8641080" y="3035808"/>
            <a:ext cx="2743200" cy="777240"/>
          </a:xfrm>
          <a:prstGeom prst="rect">
            <a:avLst/>
          </a:prstGeom>
          <a:noFill/>
          <a:ln/>
        </p:spPr>
        <p:txBody>
          <a:bodyPr wrap="square" lIns="0" tIns="0" rIns="0" bIns="0" rtlCol="0" anchor="ctr"/>
          <a:lstStyle/>
          <a:p>
            <a:pPr indent="0" marL="0">
              <a:buNone/>
            </a:pPr>
            <a:r>
              <a:rPr lang="en-US" sz="4000" b="1" dirty="0">
                <a:solidFill>
                  <a:schemeClr val="accent3"/>
                </a:solidFill>
              </a:rPr>
              <a:t>0.482 MW</a:t>
            </a:r>
            <a:endParaRPr lang="en-US" sz="4000" dirty="0"/>
          </a:p>
        </p:txBody>
      </p:sp>
      <p:sp>
        <p:nvSpPr>
          <p:cNvPr id="10" name="stat-l-Network losses (was 0.654 MW)"/>
          <p:cNvSpPr txBox="1"/>
          <p:nvPr/>
        </p:nvSpPr>
        <p:spPr>
          <a:xfrm>
            <a:off x="8641080" y="3794760"/>
            <a:ext cx="2743200" cy="457200"/>
          </a:xfrm>
          <a:prstGeom prst="rect">
            <a:avLst/>
          </a:prstGeom>
          <a:noFill/>
          <a:ln/>
        </p:spPr>
        <p:txBody>
          <a:bodyPr wrap="square" lIns="0" tIns="0" rIns="0" bIns="0" rtlCol="0" anchor="ctr"/>
          <a:lstStyle/>
          <a:p>
            <a:pPr indent="0" marL="0">
              <a:buNone/>
            </a:pPr>
            <a:r>
              <a:rPr lang="en-US" sz="1300" dirty="0">
                <a:solidFill>
                  <a:schemeClr val="tx1"/>
                </a:solidFill>
              </a:rPr>
              <a:t>Network losses (was 0.654 MW)</a:t>
            </a:r>
            <a:endParaRPr lang="en-US" sz="1300" dirty="0"/>
          </a:p>
        </p:txBody>
      </p:sp>
      <p:sp>
        <p:nvSpPr>
          <p:cNvPr id="11" name="stat-bg-Max loading (was 104.5 %)"/>
          <p:cNvSpPr/>
          <p:nvPr/>
        </p:nvSpPr>
        <p:spPr>
          <a:xfrm>
            <a:off x="8412480" y="4480560"/>
            <a:ext cx="3200400" cy="1417320"/>
          </a:xfrm>
          <a:prstGeom prst="roundRect">
            <a:avLst>
              <a:gd name="adj" fmla="val 7742"/>
            </a:avLst>
          </a:prstGeom>
          <a:solidFill>
            <a:schemeClr val="bg2"/>
          </a:solidFill>
          <a:ln/>
        </p:spPr>
      </p:sp>
      <p:sp>
        <p:nvSpPr>
          <p:cNvPr id="12" name="stat-v-Max loading (was 104.5 %)"/>
          <p:cNvSpPr txBox="1"/>
          <p:nvPr/>
        </p:nvSpPr>
        <p:spPr>
          <a:xfrm>
            <a:off x="8641080" y="4590288"/>
            <a:ext cx="2743200" cy="777240"/>
          </a:xfrm>
          <a:prstGeom prst="rect">
            <a:avLst/>
          </a:prstGeom>
          <a:noFill/>
          <a:ln/>
        </p:spPr>
        <p:txBody>
          <a:bodyPr wrap="square" lIns="0" tIns="0" rIns="0" bIns="0" rtlCol="0" anchor="ctr"/>
          <a:lstStyle/>
          <a:p>
            <a:pPr indent="0" marL="0">
              <a:buNone/>
            </a:pPr>
            <a:r>
              <a:rPr lang="en-US" sz="4000" b="1" dirty="0">
                <a:solidFill>
                  <a:schemeClr val="accent3"/>
                </a:solidFill>
              </a:rPr>
              <a:t>99.8 %</a:t>
            </a:r>
            <a:endParaRPr lang="en-US" sz="4000" dirty="0"/>
          </a:p>
        </p:txBody>
      </p:sp>
      <p:sp>
        <p:nvSpPr>
          <p:cNvPr id="13" name="stat-l-Max loading (was 104.5 %)"/>
          <p:cNvSpPr txBox="1"/>
          <p:nvPr/>
        </p:nvSpPr>
        <p:spPr>
          <a:xfrm>
            <a:off x="8641080" y="5349240"/>
            <a:ext cx="2743200" cy="457200"/>
          </a:xfrm>
          <a:prstGeom prst="rect">
            <a:avLst/>
          </a:prstGeom>
          <a:noFill/>
          <a:ln/>
        </p:spPr>
        <p:txBody>
          <a:bodyPr wrap="square" lIns="0" tIns="0" rIns="0" bIns="0" rtlCol="0" anchor="ctr"/>
          <a:lstStyle/>
          <a:p>
            <a:pPr indent="0" marL="0">
              <a:buNone/>
            </a:pPr>
            <a:r>
              <a:rPr lang="en-US" sz="1300" dirty="0">
                <a:solidFill>
                  <a:schemeClr val="tx1"/>
                </a:solidFill>
              </a:rPr>
              <a:t>Max loading (was 104.5 %)</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The data center is part of the same network</a:t>
            </a:r>
            <a:endParaRPr lang="en-US" sz="3200" dirty="0"/>
          </a:p>
        </p:txBody>
      </p:sp>
      <p:pic>
        <p:nvPicPr>
          <p:cNvPr id="3" name="shot-09_datacenter" descr="GridMind AI screenshot: 09 datacenter">    </p:cNvPr>
          <p:cNvPicPr>
            <a:picLocks noChangeAspect="1"/>
          </p:cNvPicPr>
          <p:nvPr/>
        </p:nvPicPr>
        <p:blipFill>
          <a:blip r:embed="rId1"/>
          <a:stretch>
            <a:fillRect/>
          </a:stretch>
        </p:blipFill>
        <p:spPr>
          <a:xfrm>
            <a:off x="548640" y="1371600"/>
            <a:ext cx="7498080" cy="4686300"/>
          </a:xfrm>
          <a:prstGeom prst="rect">
            <a:avLst/>
          </a:prstGeom>
          <a:effectLst>
            <a:outerShdw sx="100000" sy="100000" kx="0" ky="0" algn="bl" rotWithShape="0" blurRad="76200" dist="25400" dir="5400000">
              <a:srgbClr val="1B2A3A">
                <a:alpha val="18000"/>
              </a:srgbClr>
            </a:outerShdw>
          </a:effectLst>
        </p:spPr>
      </p:pic>
      <p:sp>
        <p:nvSpPr>
          <p:cNvPr id="4" name="frame-09_datacenter"/>
          <p:cNvSpPr/>
          <p:nvPr/>
        </p:nvSpPr>
        <p:spPr>
          <a:xfrm>
            <a:off x="548640" y="1371600"/>
            <a:ext cx="7498080" cy="4686300"/>
          </a:xfrm>
          <a:prstGeom prst="rect">
            <a:avLst/>
          </a:prstGeom>
          <a:ln w="9525">
            <a:solidFill>
              <a:srgbClr val="C9D3DD"/>
            </a:solidFill>
            <a:prstDash val="solid"/>
          </a:ln>
        </p:spPr>
      </p:sp>
      <p:sp>
        <p:nvSpPr>
          <p:cNvPr id="5" name="dot-1-9.2"/>
          <p:cNvSpPr/>
          <p:nvPr/>
        </p:nvSpPr>
        <p:spPr>
          <a:xfrm>
            <a:off x="8412480" y="1463040"/>
            <a:ext cx="384048" cy="384048"/>
          </a:xfrm>
          <a:prstGeom prst="ellipse">
            <a:avLst/>
          </a:prstGeom>
          <a:solidFill>
            <a:schemeClr val="accent1"/>
          </a:solidFill>
          <a:ln/>
        </p:spPr>
      </p:sp>
      <p:sp>
        <p:nvSpPr>
          <p:cNvPr id="6" name="dotnum-1-9.2"/>
          <p:cNvSpPr txBox="1"/>
          <p:nvPr/>
        </p:nvSpPr>
        <p:spPr>
          <a:xfrm>
            <a:off x="8412480" y="14630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point-0"/>
          <p:cNvSpPr txBox="1"/>
          <p:nvPr/>
        </p:nvSpPr>
        <p:spPr>
          <a:xfrm>
            <a:off x="8942832" y="141732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Component model</a:t>
            </a:r>
            <a:endParaRPr lang="en-US" sz="1600" dirty="0"/>
          </a:p>
          <a:p>
            <a:pPr indent="0" marL="0">
              <a:buNone/>
            </a:pPr>
            <a:r>
              <a:rPr lang="en-US" sz="1400" dirty="0">
                <a:solidFill>
                  <a:schemeClr val="tx1"/>
                </a:solidFill>
              </a:rPr>
              <a:t>IT, AI training and inference, cooling from weather, UPS losses.</a:t>
            </a:r>
            <a:endParaRPr lang="en-US" sz="1600" dirty="0"/>
          </a:p>
        </p:txBody>
      </p:sp>
      <p:sp>
        <p:nvSpPr>
          <p:cNvPr id="8" name="dot-2-9.2"/>
          <p:cNvSpPr/>
          <p:nvPr/>
        </p:nvSpPr>
        <p:spPr>
          <a:xfrm>
            <a:off x="8412480" y="2971800"/>
            <a:ext cx="384048" cy="384048"/>
          </a:xfrm>
          <a:prstGeom prst="ellipse">
            <a:avLst/>
          </a:prstGeom>
          <a:solidFill>
            <a:schemeClr val="accent1"/>
          </a:solidFill>
          <a:ln/>
        </p:spPr>
      </p:sp>
      <p:sp>
        <p:nvSpPr>
          <p:cNvPr id="9" name="dotnum-2-9.2"/>
          <p:cNvSpPr txBox="1"/>
          <p:nvPr/>
        </p:nvSpPr>
        <p:spPr>
          <a:xfrm>
            <a:off x="8412480" y="2971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point-1"/>
          <p:cNvSpPr txBox="1"/>
          <p:nvPr/>
        </p:nvSpPr>
        <p:spPr>
          <a:xfrm>
            <a:off x="8942832" y="292608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24-hour AC time series</a:t>
            </a:r>
            <a:endParaRPr lang="en-US" sz="1600" dirty="0"/>
          </a:p>
          <a:p>
            <a:pPr indent="0" marL="0">
              <a:buNone/>
            </a:pPr>
            <a:r>
              <a:rPr lang="en-US" sz="1400" dirty="0">
                <a:solidFill>
                  <a:schemeClr val="tx1"/>
                </a:solidFill>
              </a:rPr>
              <a:t>Voltage, loading and violations hour by hour.</a:t>
            </a:r>
            <a:endParaRPr lang="en-US" sz="1600" dirty="0"/>
          </a:p>
        </p:txBody>
      </p:sp>
      <p:sp>
        <p:nvSpPr>
          <p:cNvPr id="11" name="dot-3-9.2"/>
          <p:cNvSpPr/>
          <p:nvPr/>
        </p:nvSpPr>
        <p:spPr>
          <a:xfrm>
            <a:off x="8412480" y="4480560"/>
            <a:ext cx="384048" cy="384048"/>
          </a:xfrm>
          <a:prstGeom prst="ellipse">
            <a:avLst/>
          </a:prstGeom>
          <a:solidFill>
            <a:schemeClr val="accent1"/>
          </a:solidFill>
          <a:ln/>
        </p:spPr>
      </p:sp>
      <p:sp>
        <p:nvSpPr>
          <p:cNvPr id="12" name="dotnum-3-9.2"/>
          <p:cNvSpPr txBox="1"/>
          <p:nvPr/>
        </p:nvSpPr>
        <p:spPr>
          <a:xfrm>
            <a:off x="8412480" y="448056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point-2"/>
          <p:cNvSpPr txBox="1"/>
          <p:nvPr/>
        </p:nvSpPr>
        <p:spPr>
          <a:xfrm>
            <a:off x="8942832" y="4434840"/>
            <a:ext cx="2715768" cy="1417320"/>
          </a:xfrm>
          <a:prstGeom prst="rect">
            <a:avLst/>
          </a:prstGeom>
          <a:noFill/>
          <a:ln/>
        </p:spPr>
        <p:txBody>
          <a:bodyPr wrap="square" lIns="0" tIns="0" rIns="0" bIns="0" rtlCol="0" anchor="t"/>
          <a:lstStyle/>
          <a:p>
            <a:pPr indent="0" marL="0">
              <a:buNone/>
            </a:pPr>
            <a:r>
              <a:rPr lang="en-US" sz="1600" b="1" dirty="0">
                <a:solidFill>
                  <a:schemeClr val="tx2"/>
                </a:solidFill>
              </a:rPr>
              <a:t>Coordinated schedule</a:t>
            </a:r>
            <a:endParaRPr lang="en-US" sz="1600" dirty="0"/>
          </a:p>
          <a:p>
            <a:pPr indent="0" marL="0">
              <a:buNone/>
            </a:pPr>
            <a:r>
              <a:rPr lang="en-US" sz="1400" dirty="0">
                <a:solidFill>
                  <a:schemeClr val="tx1"/>
                </a:solidFill>
              </a:rPr>
              <a:t>LP shifts 1.38 MWh of training: $10,302 → $10,137 per day, 0 violation hours.</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It learns across runs and writes the engineering report</a:t>
            </a:r>
            <a:endParaRPr lang="en-US" sz="3200" dirty="0"/>
          </a:p>
        </p:txBody>
      </p:sp>
      <p:pic>
        <p:nvPicPr>
          <p:cNvPr id="3" name="shot-10_history" descr="GridMind AI screenshot: 10 history">    </p:cNvPr>
          <p:cNvPicPr>
            <a:picLocks noChangeAspect="1"/>
          </p:cNvPicPr>
          <p:nvPr/>
        </p:nvPicPr>
        <p:blipFill>
          <a:blip r:embed="rId1"/>
          <a:stretch>
            <a:fillRect/>
          </a:stretch>
        </p:blipFill>
        <p:spPr>
          <a:xfrm>
            <a:off x="548640" y="1371600"/>
            <a:ext cx="5440680" cy="3400425"/>
          </a:xfrm>
          <a:prstGeom prst="rect">
            <a:avLst/>
          </a:prstGeom>
          <a:effectLst>
            <a:outerShdw sx="100000" sy="100000" kx="0" ky="0" algn="bl" rotWithShape="0" blurRad="76200" dist="25400" dir="5400000">
              <a:srgbClr val="1B2A3A">
                <a:alpha val="18000"/>
              </a:srgbClr>
            </a:outerShdw>
          </a:effectLst>
        </p:spPr>
      </p:pic>
      <p:sp>
        <p:nvSpPr>
          <p:cNvPr id="4" name="frame-10_history"/>
          <p:cNvSpPr/>
          <p:nvPr/>
        </p:nvSpPr>
        <p:spPr>
          <a:xfrm>
            <a:off x="548640" y="1371600"/>
            <a:ext cx="5440680" cy="3400425"/>
          </a:xfrm>
          <a:prstGeom prst="rect">
            <a:avLst/>
          </a:prstGeom>
          <a:ln w="9525">
            <a:solidFill>
              <a:srgbClr val="C9D3DD"/>
            </a:solidFill>
            <a:prstDash val="solid"/>
          </a:ln>
        </p:spPr>
      </p:sp>
      <p:pic>
        <p:nvPicPr>
          <p:cNvPr id="5" name="shot-12_report" descr="GridMind AI screenshot: 12 report">    </p:cNvPr>
          <p:cNvPicPr>
            <a:picLocks noChangeAspect="1"/>
          </p:cNvPicPr>
          <p:nvPr/>
        </p:nvPicPr>
        <p:blipFill>
          <a:blip r:embed="rId2"/>
          <a:stretch>
            <a:fillRect/>
          </a:stretch>
        </p:blipFill>
        <p:spPr>
          <a:xfrm>
            <a:off x="6172200" y="1371600"/>
            <a:ext cx="5440680" cy="3400425"/>
          </a:xfrm>
          <a:prstGeom prst="rect">
            <a:avLst/>
          </a:prstGeom>
          <a:effectLst>
            <a:outerShdw sx="100000" sy="100000" kx="0" ky="0" algn="bl" rotWithShape="0" blurRad="76200" dist="25400" dir="5400000">
              <a:srgbClr val="1B2A3A">
                <a:alpha val="18000"/>
              </a:srgbClr>
            </a:outerShdw>
          </a:effectLst>
        </p:spPr>
      </p:pic>
      <p:sp>
        <p:nvSpPr>
          <p:cNvPr id="6" name="frame-12_report"/>
          <p:cNvSpPr/>
          <p:nvPr/>
        </p:nvSpPr>
        <p:spPr>
          <a:xfrm>
            <a:off x="6172200" y="1371600"/>
            <a:ext cx="5440680" cy="3400425"/>
          </a:xfrm>
          <a:prstGeom prst="rect">
            <a:avLst/>
          </a:prstGeom>
          <a:ln w="9525">
            <a:solidFill>
              <a:srgbClr val="C9D3DD"/>
            </a:solidFill>
            <a:prstDash val="solid"/>
          </a:ln>
        </p:spPr>
      </p:sp>
      <p:sp>
        <p:nvSpPr>
          <p:cNvPr id="7" name="cap-0.6-5.35"/>
          <p:cNvSpPr txBox="1"/>
          <p:nvPr/>
        </p:nvSpPr>
        <p:spPr>
          <a:xfrm>
            <a:off x="548640" y="4892040"/>
            <a:ext cx="5440680" cy="365760"/>
          </a:xfrm>
          <a:prstGeom prst="rect">
            <a:avLst/>
          </a:prstGeom>
          <a:noFill/>
          <a:ln/>
        </p:spPr>
        <p:txBody>
          <a:bodyPr wrap="square" lIns="0" tIns="0" rIns="0" bIns="0" rtlCol="0" anchor="ctr"/>
          <a:lstStyle/>
          <a:p>
            <a:pPr indent="0" marL="0">
              <a:buNone/>
            </a:pPr>
            <a:r>
              <a:rPr lang="en-US" sz="1200" i="1" dirty="0">
                <a:solidFill>
                  <a:schemeClr val="tx1"/>
                </a:solidFill>
              </a:rPr>
              <a:t>History &amp; memory: runs, verified lessons in agent_memory, audit log</a:t>
            </a:r>
            <a:endParaRPr lang="en-US" sz="1200" dirty="0"/>
          </a:p>
        </p:txBody>
      </p:sp>
      <p:sp>
        <p:nvSpPr>
          <p:cNvPr id="8" name="cap-6.75-5.35"/>
          <p:cNvSpPr txBox="1"/>
          <p:nvPr/>
        </p:nvSpPr>
        <p:spPr>
          <a:xfrm>
            <a:off x="6172200" y="4892040"/>
            <a:ext cx="5440680" cy="365760"/>
          </a:xfrm>
          <a:prstGeom prst="rect">
            <a:avLst/>
          </a:prstGeom>
          <a:noFill/>
          <a:ln/>
        </p:spPr>
        <p:txBody>
          <a:bodyPr wrap="square" lIns="0" tIns="0" rIns="0" bIns="0" rtlCol="0" anchor="ctr"/>
          <a:lstStyle/>
          <a:p>
            <a:pPr indent="0" marL="0">
              <a:buNone/>
            </a:pPr>
            <a:r>
              <a:rPr lang="en-US" sz="1200" i="1" dirty="0">
                <a:solidFill>
                  <a:schemeClr val="tx1"/>
                </a:solidFill>
              </a:rPr>
              <a:t>Engineering report: evidence, calculations, verification tables, limitations</a:t>
            </a:r>
            <a:endParaRPr lang="en-US" sz="1200" dirty="0"/>
          </a:p>
        </p:txBody>
      </p:sp>
      <p:sp>
        <p:nvSpPr>
          <p:cNvPr id="9" name="learn-note"/>
          <p:cNvSpPr txBox="1"/>
          <p:nvPr/>
        </p:nvSpPr>
        <p:spPr>
          <a:xfrm>
            <a:off x="548640" y="5440680"/>
            <a:ext cx="11064240" cy="731520"/>
          </a:xfrm>
          <a:prstGeom prst="rect">
            <a:avLst/>
          </a:prstGeom>
          <a:noFill/>
          <a:ln/>
        </p:spPr>
        <p:txBody>
          <a:bodyPr wrap="square" lIns="0" tIns="0" rIns="0" bIns="0" rtlCol="0" anchor="ctr"/>
          <a:lstStyle/>
          <a:p>
            <a:pPr indent="0" marL="0">
              <a:buNone/>
            </a:pPr>
            <a:r>
              <a:rPr lang="en-US" sz="1500" dirty="0">
                <a:solidFill>
                  <a:schemeClr val="tx1"/>
                </a:solidFill>
              </a:rPr>
              <a:t>The AI-training-surge scenario retrieved the lessons from the evening-peak run, evaluated that plan type first, and was also verified.</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rPr>
              <a:t>Verified result: every limit met for $62,000 of capital</a:t>
            </a:r>
            <a:endParaRPr lang="en-US" sz="3200" dirty="0"/>
          </a:p>
        </p:txBody>
      </p:sp>
      <p:sp>
        <p:nvSpPr>
          <p:cNvPr id="3" name="res-0"/>
          <p:cNvSpPr/>
          <p:nvPr/>
        </p:nvSpPr>
        <p:spPr>
          <a:xfrm>
            <a:off x="548640" y="1417320"/>
            <a:ext cx="2606040" cy="2377440"/>
          </a:xfrm>
          <a:prstGeom prst="roundRect">
            <a:avLst>
              <a:gd name="adj" fmla="val 4615"/>
            </a:avLst>
          </a:prstGeom>
          <a:solidFill>
            <a:schemeClr val="bg2"/>
          </a:solidFill>
          <a:ln/>
        </p:spPr>
      </p:sp>
      <p:sp>
        <p:nvSpPr>
          <p:cNvPr id="4" name="res-l-0"/>
          <p:cNvSpPr txBox="1"/>
          <p:nvPr/>
        </p:nvSpPr>
        <p:spPr>
          <a:xfrm>
            <a:off x="777240" y="1554480"/>
            <a:ext cx="2194560" cy="411480"/>
          </a:xfrm>
          <a:prstGeom prst="rect">
            <a:avLst/>
          </a:prstGeom>
          <a:noFill/>
          <a:ln/>
        </p:spPr>
        <p:txBody>
          <a:bodyPr wrap="square" lIns="0" tIns="0" rIns="0" bIns="0" rtlCol="0" anchor="ctr"/>
          <a:lstStyle/>
          <a:p>
            <a:pPr indent="0" marL="0">
              <a:buNone/>
            </a:pPr>
            <a:r>
              <a:rPr lang="en-US" sz="1500" b="1" dirty="0">
                <a:solidFill>
                  <a:schemeClr val="tx2"/>
                </a:solidFill>
              </a:rPr>
              <a:t>Minimum voltage</a:t>
            </a:r>
            <a:endParaRPr lang="en-US" sz="1500" dirty="0"/>
          </a:p>
        </p:txBody>
      </p:sp>
      <p:sp>
        <p:nvSpPr>
          <p:cNvPr id="5" name="res-b-0"/>
          <p:cNvSpPr txBox="1"/>
          <p:nvPr/>
        </p:nvSpPr>
        <p:spPr>
          <a:xfrm>
            <a:off x="777240" y="2011680"/>
            <a:ext cx="2194560" cy="502920"/>
          </a:xfrm>
          <a:prstGeom prst="rect">
            <a:avLst/>
          </a:prstGeom>
          <a:noFill/>
          <a:ln/>
        </p:spPr>
        <p:txBody>
          <a:bodyPr wrap="square" lIns="0" tIns="0" rIns="0" bIns="0" rtlCol="0" anchor="ctr"/>
          <a:lstStyle/>
          <a:p>
            <a:pPr indent="0" marL="0">
              <a:buNone/>
            </a:pPr>
            <a:r>
              <a:rPr lang="en-US" sz="2200" dirty="0">
                <a:solidFill>
                  <a:schemeClr val="accent6"/>
                </a:solidFill>
              </a:rPr>
              <a:t>0.8949 pu</a:t>
            </a:r>
            <a:endParaRPr lang="en-US" sz="2200" dirty="0"/>
          </a:p>
        </p:txBody>
      </p:sp>
      <p:sp>
        <p:nvSpPr>
          <p:cNvPr id="6" name="res-arrow-0"/>
          <p:cNvSpPr txBox="1"/>
          <p:nvPr/>
        </p:nvSpPr>
        <p:spPr>
          <a:xfrm>
            <a:off x="777240" y="2560320"/>
            <a:ext cx="2194560" cy="320040"/>
          </a:xfrm>
          <a:prstGeom prst="rect">
            <a:avLst/>
          </a:prstGeom>
          <a:noFill/>
          <a:ln/>
        </p:spPr>
        <p:txBody>
          <a:bodyPr wrap="square" lIns="0" tIns="0" rIns="0" bIns="0" rtlCol="0" anchor="ctr"/>
          <a:lstStyle/>
          <a:p>
            <a:pPr indent="0" marL="0">
              <a:buNone/>
            </a:pPr>
            <a:r>
              <a:rPr lang="en-US" sz="1200" dirty="0">
                <a:solidFill>
                  <a:schemeClr val="tx1"/>
                </a:solidFill>
              </a:rPr>
              <a:t>↓ verified</a:t>
            </a:r>
            <a:endParaRPr lang="en-US" sz="1200" dirty="0"/>
          </a:p>
        </p:txBody>
      </p:sp>
      <p:sp>
        <p:nvSpPr>
          <p:cNvPr id="7" name="res-a-0"/>
          <p:cNvSpPr txBox="1"/>
          <p:nvPr/>
        </p:nvSpPr>
        <p:spPr>
          <a:xfrm>
            <a:off x="777240" y="2880360"/>
            <a:ext cx="2194560" cy="640080"/>
          </a:xfrm>
          <a:prstGeom prst="rect">
            <a:avLst/>
          </a:prstGeom>
          <a:noFill/>
          <a:ln/>
        </p:spPr>
        <p:txBody>
          <a:bodyPr wrap="square" lIns="0" tIns="0" rIns="0" bIns="0" rtlCol="0" anchor="ctr"/>
          <a:lstStyle/>
          <a:p>
            <a:pPr indent="0" marL="0">
              <a:buNone/>
            </a:pPr>
            <a:r>
              <a:rPr lang="en-US" sz="3000" b="1" dirty="0">
                <a:solidFill>
                  <a:schemeClr val="accent3"/>
                </a:solidFill>
              </a:rPr>
              <a:t>0.9534 pu</a:t>
            </a:r>
            <a:endParaRPr lang="en-US" sz="3000" dirty="0"/>
          </a:p>
        </p:txBody>
      </p:sp>
      <p:sp>
        <p:nvSpPr>
          <p:cNvPr id="8" name="res-1"/>
          <p:cNvSpPr/>
          <p:nvPr/>
        </p:nvSpPr>
        <p:spPr>
          <a:xfrm>
            <a:off x="3383280" y="1417320"/>
            <a:ext cx="2606040" cy="2377440"/>
          </a:xfrm>
          <a:prstGeom prst="roundRect">
            <a:avLst>
              <a:gd name="adj" fmla="val 4615"/>
            </a:avLst>
          </a:prstGeom>
          <a:solidFill>
            <a:schemeClr val="bg2"/>
          </a:solidFill>
          <a:ln/>
        </p:spPr>
      </p:sp>
      <p:sp>
        <p:nvSpPr>
          <p:cNvPr id="9" name="res-l-1"/>
          <p:cNvSpPr txBox="1"/>
          <p:nvPr/>
        </p:nvSpPr>
        <p:spPr>
          <a:xfrm>
            <a:off x="3611880" y="1554480"/>
            <a:ext cx="2194560" cy="411480"/>
          </a:xfrm>
          <a:prstGeom prst="rect">
            <a:avLst/>
          </a:prstGeom>
          <a:noFill/>
          <a:ln/>
        </p:spPr>
        <p:txBody>
          <a:bodyPr wrap="square" lIns="0" tIns="0" rIns="0" bIns="0" rtlCol="0" anchor="ctr"/>
          <a:lstStyle/>
          <a:p>
            <a:pPr indent="0" marL="0">
              <a:buNone/>
            </a:pPr>
            <a:r>
              <a:rPr lang="en-US" sz="1500" b="1" dirty="0">
                <a:solidFill>
                  <a:schemeClr val="tx2"/>
                </a:solidFill>
              </a:rPr>
              <a:t>Maximum loading</a:t>
            </a:r>
            <a:endParaRPr lang="en-US" sz="1500" dirty="0"/>
          </a:p>
        </p:txBody>
      </p:sp>
      <p:sp>
        <p:nvSpPr>
          <p:cNvPr id="10" name="res-b-1"/>
          <p:cNvSpPr txBox="1"/>
          <p:nvPr/>
        </p:nvSpPr>
        <p:spPr>
          <a:xfrm>
            <a:off x="3611880" y="2011680"/>
            <a:ext cx="2194560" cy="502920"/>
          </a:xfrm>
          <a:prstGeom prst="rect">
            <a:avLst/>
          </a:prstGeom>
          <a:noFill/>
          <a:ln/>
        </p:spPr>
        <p:txBody>
          <a:bodyPr wrap="square" lIns="0" tIns="0" rIns="0" bIns="0" rtlCol="0" anchor="ctr"/>
          <a:lstStyle/>
          <a:p>
            <a:pPr indent="0" marL="0">
              <a:buNone/>
            </a:pPr>
            <a:r>
              <a:rPr lang="en-US" sz="2200" dirty="0">
                <a:solidFill>
                  <a:schemeClr val="accent6"/>
                </a:solidFill>
              </a:rPr>
              <a:t>104.5 %</a:t>
            </a:r>
            <a:endParaRPr lang="en-US" sz="2200" dirty="0"/>
          </a:p>
        </p:txBody>
      </p:sp>
      <p:sp>
        <p:nvSpPr>
          <p:cNvPr id="11" name="res-arrow-1"/>
          <p:cNvSpPr txBox="1"/>
          <p:nvPr/>
        </p:nvSpPr>
        <p:spPr>
          <a:xfrm>
            <a:off x="3611880" y="2560320"/>
            <a:ext cx="2194560" cy="320040"/>
          </a:xfrm>
          <a:prstGeom prst="rect">
            <a:avLst/>
          </a:prstGeom>
          <a:noFill/>
          <a:ln/>
        </p:spPr>
        <p:txBody>
          <a:bodyPr wrap="square" lIns="0" tIns="0" rIns="0" bIns="0" rtlCol="0" anchor="ctr"/>
          <a:lstStyle/>
          <a:p>
            <a:pPr indent="0" marL="0">
              <a:buNone/>
            </a:pPr>
            <a:r>
              <a:rPr lang="en-US" sz="1200" dirty="0">
                <a:solidFill>
                  <a:schemeClr val="tx1"/>
                </a:solidFill>
              </a:rPr>
              <a:t>↓ verified</a:t>
            </a:r>
            <a:endParaRPr lang="en-US" sz="1200" dirty="0"/>
          </a:p>
        </p:txBody>
      </p:sp>
      <p:sp>
        <p:nvSpPr>
          <p:cNvPr id="12" name="res-a-1"/>
          <p:cNvSpPr txBox="1"/>
          <p:nvPr/>
        </p:nvSpPr>
        <p:spPr>
          <a:xfrm>
            <a:off x="3611880" y="2880360"/>
            <a:ext cx="2194560" cy="640080"/>
          </a:xfrm>
          <a:prstGeom prst="rect">
            <a:avLst/>
          </a:prstGeom>
          <a:noFill/>
          <a:ln/>
        </p:spPr>
        <p:txBody>
          <a:bodyPr wrap="square" lIns="0" tIns="0" rIns="0" bIns="0" rtlCol="0" anchor="ctr"/>
          <a:lstStyle/>
          <a:p>
            <a:pPr indent="0" marL="0">
              <a:buNone/>
            </a:pPr>
            <a:r>
              <a:rPr lang="en-US" sz="3000" b="1" dirty="0">
                <a:solidFill>
                  <a:schemeClr val="accent3"/>
                </a:solidFill>
              </a:rPr>
              <a:t>99.8 %</a:t>
            </a:r>
            <a:endParaRPr lang="en-US" sz="3000" dirty="0"/>
          </a:p>
        </p:txBody>
      </p:sp>
      <p:sp>
        <p:nvSpPr>
          <p:cNvPr id="13" name="res-2"/>
          <p:cNvSpPr/>
          <p:nvPr/>
        </p:nvSpPr>
        <p:spPr>
          <a:xfrm>
            <a:off x="6217920" y="1417320"/>
            <a:ext cx="2606040" cy="2377440"/>
          </a:xfrm>
          <a:prstGeom prst="roundRect">
            <a:avLst>
              <a:gd name="adj" fmla="val 4615"/>
            </a:avLst>
          </a:prstGeom>
          <a:solidFill>
            <a:schemeClr val="bg2"/>
          </a:solidFill>
          <a:ln/>
        </p:spPr>
      </p:sp>
      <p:sp>
        <p:nvSpPr>
          <p:cNvPr id="14" name="res-l-2"/>
          <p:cNvSpPr txBox="1"/>
          <p:nvPr/>
        </p:nvSpPr>
        <p:spPr>
          <a:xfrm>
            <a:off x="6446520" y="1554480"/>
            <a:ext cx="2194560" cy="411480"/>
          </a:xfrm>
          <a:prstGeom prst="rect">
            <a:avLst/>
          </a:prstGeom>
          <a:noFill/>
          <a:ln/>
        </p:spPr>
        <p:txBody>
          <a:bodyPr wrap="square" lIns="0" tIns="0" rIns="0" bIns="0" rtlCol="0" anchor="ctr"/>
          <a:lstStyle/>
          <a:p>
            <a:pPr indent="0" marL="0">
              <a:buNone/>
            </a:pPr>
            <a:r>
              <a:rPr lang="en-US" sz="1500" b="1" dirty="0">
                <a:solidFill>
                  <a:schemeClr val="tx2"/>
                </a:solidFill>
              </a:rPr>
              <a:t>Network losses</a:t>
            </a:r>
            <a:endParaRPr lang="en-US" sz="1500" dirty="0"/>
          </a:p>
        </p:txBody>
      </p:sp>
      <p:sp>
        <p:nvSpPr>
          <p:cNvPr id="15" name="res-b-2"/>
          <p:cNvSpPr txBox="1"/>
          <p:nvPr/>
        </p:nvSpPr>
        <p:spPr>
          <a:xfrm>
            <a:off x="6446520" y="2011680"/>
            <a:ext cx="2194560" cy="502920"/>
          </a:xfrm>
          <a:prstGeom prst="rect">
            <a:avLst/>
          </a:prstGeom>
          <a:noFill/>
          <a:ln/>
        </p:spPr>
        <p:txBody>
          <a:bodyPr wrap="square" lIns="0" tIns="0" rIns="0" bIns="0" rtlCol="0" anchor="ctr"/>
          <a:lstStyle/>
          <a:p>
            <a:pPr indent="0" marL="0">
              <a:buNone/>
            </a:pPr>
            <a:r>
              <a:rPr lang="en-US" sz="2200" dirty="0">
                <a:solidFill>
                  <a:schemeClr val="accent6"/>
                </a:solidFill>
              </a:rPr>
              <a:t>0.654 MW</a:t>
            </a:r>
            <a:endParaRPr lang="en-US" sz="2200" dirty="0"/>
          </a:p>
        </p:txBody>
      </p:sp>
      <p:sp>
        <p:nvSpPr>
          <p:cNvPr id="16" name="res-arrow-2"/>
          <p:cNvSpPr txBox="1"/>
          <p:nvPr/>
        </p:nvSpPr>
        <p:spPr>
          <a:xfrm>
            <a:off x="6446520" y="2560320"/>
            <a:ext cx="2194560" cy="320040"/>
          </a:xfrm>
          <a:prstGeom prst="rect">
            <a:avLst/>
          </a:prstGeom>
          <a:noFill/>
          <a:ln/>
        </p:spPr>
        <p:txBody>
          <a:bodyPr wrap="square" lIns="0" tIns="0" rIns="0" bIns="0" rtlCol="0" anchor="ctr"/>
          <a:lstStyle/>
          <a:p>
            <a:pPr indent="0" marL="0">
              <a:buNone/>
            </a:pPr>
            <a:r>
              <a:rPr lang="en-US" sz="1200" dirty="0">
                <a:solidFill>
                  <a:schemeClr val="tx1"/>
                </a:solidFill>
              </a:rPr>
              <a:t>↓ verified</a:t>
            </a:r>
            <a:endParaRPr lang="en-US" sz="1200" dirty="0"/>
          </a:p>
        </p:txBody>
      </p:sp>
      <p:sp>
        <p:nvSpPr>
          <p:cNvPr id="17" name="res-a-2"/>
          <p:cNvSpPr txBox="1"/>
          <p:nvPr/>
        </p:nvSpPr>
        <p:spPr>
          <a:xfrm>
            <a:off x="6446520" y="2880360"/>
            <a:ext cx="2194560" cy="640080"/>
          </a:xfrm>
          <a:prstGeom prst="rect">
            <a:avLst/>
          </a:prstGeom>
          <a:noFill/>
          <a:ln/>
        </p:spPr>
        <p:txBody>
          <a:bodyPr wrap="square" lIns="0" tIns="0" rIns="0" bIns="0" rtlCol="0" anchor="ctr"/>
          <a:lstStyle/>
          <a:p>
            <a:pPr indent="0" marL="0">
              <a:buNone/>
            </a:pPr>
            <a:r>
              <a:rPr lang="en-US" sz="3000" b="1" dirty="0">
                <a:solidFill>
                  <a:schemeClr val="accent3"/>
                </a:solidFill>
              </a:rPr>
              <a:t>0.482 MW</a:t>
            </a:r>
            <a:endParaRPr lang="en-US" sz="3000" dirty="0"/>
          </a:p>
        </p:txBody>
      </p:sp>
      <p:sp>
        <p:nvSpPr>
          <p:cNvPr id="18" name="res-3"/>
          <p:cNvSpPr/>
          <p:nvPr/>
        </p:nvSpPr>
        <p:spPr>
          <a:xfrm>
            <a:off x="9052560" y="1417320"/>
            <a:ext cx="2606040" cy="2377440"/>
          </a:xfrm>
          <a:prstGeom prst="roundRect">
            <a:avLst>
              <a:gd name="adj" fmla="val 4615"/>
            </a:avLst>
          </a:prstGeom>
          <a:solidFill>
            <a:schemeClr val="bg2"/>
          </a:solidFill>
          <a:ln/>
        </p:spPr>
      </p:sp>
      <p:sp>
        <p:nvSpPr>
          <p:cNvPr id="19" name="res-l-3"/>
          <p:cNvSpPr txBox="1"/>
          <p:nvPr/>
        </p:nvSpPr>
        <p:spPr>
          <a:xfrm>
            <a:off x="9281160" y="1554480"/>
            <a:ext cx="2194560" cy="411480"/>
          </a:xfrm>
          <a:prstGeom prst="rect">
            <a:avLst/>
          </a:prstGeom>
          <a:noFill/>
          <a:ln/>
        </p:spPr>
        <p:txBody>
          <a:bodyPr wrap="square" lIns="0" tIns="0" rIns="0" bIns="0" rtlCol="0" anchor="ctr"/>
          <a:lstStyle/>
          <a:p>
            <a:pPr indent="0" marL="0">
              <a:buNone/>
            </a:pPr>
            <a:r>
              <a:rPr lang="en-US" sz="1500" b="1" dirty="0">
                <a:solidFill>
                  <a:schemeClr val="tx2"/>
                </a:solidFill>
              </a:rPr>
              <a:t>Grid power factor</a:t>
            </a:r>
            <a:endParaRPr lang="en-US" sz="1500" dirty="0"/>
          </a:p>
        </p:txBody>
      </p:sp>
      <p:sp>
        <p:nvSpPr>
          <p:cNvPr id="20" name="res-b-3"/>
          <p:cNvSpPr txBox="1"/>
          <p:nvPr/>
        </p:nvSpPr>
        <p:spPr>
          <a:xfrm>
            <a:off x="9281160" y="2011680"/>
            <a:ext cx="2194560" cy="502920"/>
          </a:xfrm>
          <a:prstGeom prst="rect">
            <a:avLst/>
          </a:prstGeom>
          <a:noFill/>
          <a:ln/>
        </p:spPr>
        <p:txBody>
          <a:bodyPr wrap="square" lIns="0" tIns="0" rIns="0" bIns="0" rtlCol="0" anchor="ctr"/>
          <a:lstStyle/>
          <a:p>
            <a:pPr indent="0" marL="0">
              <a:buNone/>
            </a:pPr>
            <a:r>
              <a:rPr lang="en-US" sz="2200" dirty="0">
                <a:solidFill>
                  <a:schemeClr val="accent6"/>
                </a:solidFill>
              </a:rPr>
              <a:t>0.932</a:t>
            </a:r>
            <a:endParaRPr lang="en-US" sz="2200" dirty="0"/>
          </a:p>
        </p:txBody>
      </p:sp>
      <p:sp>
        <p:nvSpPr>
          <p:cNvPr id="21" name="res-arrow-3"/>
          <p:cNvSpPr txBox="1"/>
          <p:nvPr/>
        </p:nvSpPr>
        <p:spPr>
          <a:xfrm>
            <a:off x="9281160" y="2560320"/>
            <a:ext cx="2194560" cy="320040"/>
          </a:xfrm>
          <a:prstGeom prst="rect">
            <a:avLst/>
          </a:prstGeom>
          <a:noFill/>
          <a:ln/>
        </p:spPr>
        <p:txBody>
          <a:bodyPr wrap="square" lIns="0" tIns="0" rIns="0" bIns="0" rtlCol="0" anchor="ctr"/>
          <a:lstStyle/>
          <a:p>
            <a:pPr indent="0" marL="0">
              <a:buNone/>
            </a:pPr>
            <a:r>
              <a:rPr lang="en-US" sz="1200" dirty="0">
                <a:solidFill>
                  <a:schemeClr val="tx1"/>
                </a:solidFill>
              </a:rPr>
              <a:t>↓ verified</a:t>
            </a:r>
            <a:endParaRPr lang="en-US" sz="1200" dirty="0"/>
          </a:p>
        </p:txBody>
      </p:sp>
      <p:sp>
        <p:nvSpPr>
          <p:cNvPr id="22" name="res-a-3"/>
          <p:cNvSpPr txBox="1"/>
          <p:nvPr/>
        </p:nvSpPr>
        <p:spPr>
          <a:xfrm>
            <a:off x="9281160" y="2880360"/>
            <a:ext cx="2194560" cy="640080"/>
          </a:xfrm>
          <a:prstGeom prst="rect">
            <a:avLst/>
          </a:prstGeom>
          <a:noFill/>
          <a:ln/>
        </p:spPr>
        <p:txBody>
          <a:bodyPr wrap="square" lIns="0" tIns="0" rIns="0" bIns="0" rtlCol="0" anchor="ctr"/>
          <a:lstStyle/>
          <a:p>
            <a:pPr indent="0" marL="0">
              <a:buNone/>
            </a:pPr>
            <a:r>
              <a:rPr lang="en-US" sz="3000" b="1" dirty="0">
                <a:solidFill>
                  <a:schemeClr val="accent3"/>
                </a:solidFill>
              </a:rPr>
              <a:t>0.945</a:t>
            </a:r>
            <a:endParaRPr lang="en-US" sz="3000" dirty="0"/>
          </a:p>
        </p:txBody>
      </p:sp>
      <p:sp>
        <p:nvSpPr>
          <p:cNvPr id="23" name="plan-head"/>
          <p:cNvSpPr txBox="1"/>
          <p:nvPr/>
        </p:nvSpPr>
        <p:spPr>
          <a:xfrm>
            <a:off x="548640" y="4114800"/>
            <a:ext cx="11064240" cy="411480"/>
          </a:xfrm>
          <a:prstGeom prst="rect">
            <a:avLst/>
          </a:prstGeom>
          <a:noFill/>
          <a:ln/>
        </p:spPr>
        <p:txBody>
          <a:bodyPr wrap="square" lIns="0" tIns="0" rIns="0" bIns="0" rtlCol="0" anchor="ctr"/>
          <a:lstStyle/>
          <a:p>
            <a:pPr indent="0" marL="0">
              <a:buNone/>
            </a:pPr>
            <a:r>
              <a:rPr lang="en-US" sz="1800" b="1" dirty="0">
                <a:solidFill>
                  <a:schemeClr val="tx2"/>
                </a:solidFill>
              </a:rPr>
              <a:t>Selected plan (requires engineer approval)</a:t>
            </a:r>
            <a:endParaRPr lang="en-US" sz="1800" dirty="0"/>
          </a:p>
        </p:txBody>
      </p:sp>
      <p:sp>
        <p:nvSpPr>
          <p:cNvPr id="24" name="plan-list"/>
          <p:cNvSpPr txBox="1"/>
          <p:nvPr/>
        </p:nvSpPr>
        <p:spPr>
          <a:xfrm>
            <a:off x="548640" y="4572000"/>
            <a:ext cx="11064240" cy="16459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Install a 1,500 kvar capacitor bank at bus B11</a:t>
            </a:r>
            <a:endParaRPr lang="en-US" sz="1600" dirty="0"/>
          </a:p>
          <a:p>
            <a:pPr marL="342900" indent="-342900">
              <a:spcAft>
                <a:spcPts val="400"/>
              </a:spcAft>
              <a:buSzPct val="100000"/>
              <a:buChar char="•"/>
            </a:pPr>
            <a:r>
              <a:rPr lang="en-US" sz="1600" dirty="0">
                <a:solidFill>
                  <a:schemeClr val="tx1"/>
                </a:solidFill>
              </a:rPr>
              <a:t>Raise the OLTC of transformer T0-12 by 3 steps (tap 0 to -3, about +4.5 % voltage)</a:t>
            </a:r>
            <a:endParaRPr lang="en-US" sz="1600" dirty="0"/>
          </a:p>
          <a:p>
            <a:pPr marL="342900" indent="-342900">
              <a:spcAft>
                <a:spcPts val="400"/>
              </a:spcAft>
              <a:buSzPct val="100000"/>
              <a:buChar char="•"/>
            </a:pPr>
            <a:r>
              <a:rPr lang="en-US" sz="1600" dirty="0">
                <a:solidFill>
                  <a:schemeClr val="tx1"/>
                </a:solidFill>
              </a:rPr>
              <a:t>Shift 0.35 MW of the AI-training cluster out of the evening peak</a:t>
            </a:r>
            <a:endParaRPr lang="en-US" sz="1600" dirty="0"/>
          </a:p>
          <a:p>
            <a:pPr marL="342900" indent="-342900">
              <a:spcAft>
                <a:spcPts val="400"/>
              </a:spcAft>
              <a:buSzPct val="100000"/>
              <a:buChar char="•"/>
            </a:pPr>
            <a:r>
              <a:rPr lang="en-US" sz="1600" dirty="0">
                <a:solidFill>
                  <a:schemeClr val="tx1"/>
                </a:solidFill>
              </a:rPr>
              <a:t>Discharge the on-site battery (BESS-DC) at 0.47 MW for the 3-hour peak</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bg1"/>
                </a:solidFill>
              </a:rPr>
              <a:t>Honest limits and next steps</a:t>
            </a:r>
            <a:endParaRPr lang="en-US" sz="3200" dirty="0"/>
          </a:p>
        </p:txBody>
      </p:sp>
      <p:sp>
        <p:nvSpPr>
          <p:cNvPr id="3" name="end-h-0"/>
          <p:cNvSpPr txBox="1"/>
          <p:nvPr/>
        </p:nvSpPr>
        <p:spPr>
          <a:xfrm>
            <a:off x="548640" y="1463040"/>
            <a:ext cx="5349240" cy="502920"/>
          </a:xfrm>
          <a:prstGeom prst="rect">
            <a:avLst/>
          </a:prstGeom>
          <a:noFill/>
          <a:ln/>
        </p:spPr>
        <p:txBody>
          <a:bodyPr wrap="square" lIns="0" tIns="0" rIns="0" bIns="0" rtlCol="0" anchor="ctr"/>
          <a:lstStyle/>
          <a:p>
            <a:pPr indent="0" marL="0">
              <a:buNone/>
            </a:pPr>
            <a:r>
              <a:rPr lang="en-US" sz="2200" b="1" dirty="0">
                <a:solidFill>
                  <a:schemeClr val="accent2"/>
                </a:solidFill>
              </a:rPr>
              <a:t>What it does not claim</a:t>
            </a:r>
            <a:endParaRPr lang="en-US" sz="2200" dirty="0"/>
          </a:p>
        </p:txBody>
      </p:sp>
      <p:sp>
        <p:nvSpPr>
          <p:cNvPr id="4" name="end-b-0"/>
          <p:cNvSpPr txBox="1"/>
          <p:nvPr/>
        </p:nvSpPr>
        <p:spPr>
          <a:xfrm>
            <a:off x="548640" y="2103120"/>
            <a:ext cx="5349240" cy="3291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Steady-state balanced model: short circuit, protection, harmonics and dynamics are flagged unsupported</a:t>
            </a:r>
            <a:endParaRPr lang="en-US" sz="1700" dirty="0"/>
          </a:p>
          <a:p>
            <a:pPr marL="342900" indent="-342900">
              <a:spcAft>
                <a:spcPts val="1000"/>
              </a:spcAft>
              <a:buSzPct val="100000"/>
              <a:buChar char="•"/>
            </a:pPr>
            <a:r>
              <a:rPr lang="en-US" sz="1700" dirty="0">
                <a:solidFill>
                  <a:schemeClr val="bg1"/>
                </a:solidFill>
              </a:rPr>
              <a:t>Plan is the best of the evaluated combinations, not a proven optimum</a:t>
            </a:r>
            <a:endParaRPr lang="en-US" sz="1700" dirty="0"/>
          </a:p>
          <a:p>
            <a:pPr marL="342900" indent="-342900">
              <a:spcAft>
                <a:spcPts val="1000"/>
              </a:spcAft>
              <a:buSzPct val="100000"/>
              <a:buChar char="•"/>
            </a:pPr>
            <a:r>
              <a:rPr lang="en-US" sz="1700" dirty="0">
                <a:solidFill>
                  <a:schemeClr val="bg1"/>
                </a:solidFill>
              </a:rPr>
              <a:t>Costs and data-center sizes are labelled assumptions</a:t>
            </a:r>
            <a:endParaRPr lang="en-US" sz="1700" dirty="0"/>
          </a:p>
        </p:txBody>
      </p:sp>
      <p:sp>
        <p:nvSpPr>
          <p:cNvPr id="5" name="end-h-1"/>
          <p:cNvSpPr txBox="1"/>
          <p:nvPr/>
        </p:nvSpPr>
        <p:spPr>
          <a:xfrm>
            <a:off x="6263640" y="1463040"/>
            <a:ext cx="5349240" cy="502920"/>
          </a:xfrm>
          <a:prstGeom prst="rect">
            <a:avLst/>
          </a:prstGeom>
          <a:noFill/>
          <a:ln/>
        </p:spPr>
        <p:txBody>
          <a:bodyPr wrap="square" lIns="0" tIns="0" rIns="0" bIns="0" rtlCol="0" anchor="ctr"/>
          <a:lstStyle/>
          <a:p>
            <a:pPr indent="0" marL="0">
              <a:buNone/>
            </a:pPr>
            <a:r>
              <a:rPr lang="en-US" sz="2200" b="1" dirty="0">
                <a:solidFill>
                  <a:schemeClr val="accent2"/>
                </a:solidFill>
              </a:rPr>
              <a:t>Next steps</a:t>
            </a:r>
            <a:endParaRPr lang="en-US" sz="2200" dirty="0"/>
          </a:p>
        </p:txBody>
      </p:sp>
      <p:sp>
        <p:nvSpPr>
          <p:cNvPr id="6" name="end-b-1"/>
          <p:cNvSpPr txBox="1"/>
          <p:nvPr/>
        </p:nvSpPr>
        <p:spPr>
          <a:xfrm>
            <a:off x="6263640" y="2103120"/>
            <a:ext cx="5349240" cy="3291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Add a Claude API key for written diagnoses over solver tools</a:t>
            </a:r>
            <a:endParaRPr lang="en-US" sz="1700" dirty="0"/>
          </a:p>
          <a:p>
            <a:pPr marL="342900" indent="-342900">
              <a:spcAft>
                <a:spcPts val="1000"/>
              </a:spcAft>
              <a:buSzPct val="100000"/>
              <a:buChar char="•"/>
            </a:pPr>
            <a:r>
              <a:rPr lang="en-US" sz="1700" dirty="0">
                <a:solidFill>
                  <a:schemeClr val="bg1"/>
                </a:solidFill>
              </a:rPr>
              <a:t>Import utility models and measured SCADA / AMI data</a:t>
            </a:r>
            <a:endParaRPr lang="en-US" sz="1700" dirty="0"/>
          </a:p>
          <a:p>
            <a:pPr marL="342900" indent="-342900">
              <a:spcAft>
                <a:spcPts val="1000"/>
              </a:spcAft>
              <a:buSzPct val="100000"/>
              <a:buChar char="•"/>
            </a:pPr>
            <a:r>
              <a:rPr lang="en-US" sz="1700" dirty="0">
                <a:solidFill>
                  <a:schemeClr val="bg1"/>
                </a:solidFill>
              </a:rPr>
              <a:t>Add a short-circuit and protection study engine</a:t>
            </a:r>
            <a:endParaRPr lang="en-US" sz="1700" dirty="0"/>
          </a:p>
        </p:txBody>
      </p:sp>
      <p:sp>
        <p:nvSpPr>
          <p:cNvPr id="7" name="thanks"/>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600" dirty="0">
                <a:solidFill>
                  <a:schemeClr val="bg2"/>
                </a:solidFill>
              </a:rPr>
              <a:t>Thank you  ·  GridMind AI runs locally at http://127.0.0.1:8000</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GridMind Night">
  <a:themeElements>
    <a:clrScheme name="GridMind Night">
      <a:dk1>
        <a:srgbClr val="14202E"/>
      </a:dk1>
      <a:lt1>
        <a:srgbClr val="FFFFFF"/>
      </a:lt1>
      <a:dk2>
        <a:srgbClr val="0F2A44"/>
      </a:dk2>
      <a:lt2>
        <a:srgbClr val="EEF3F8"/>
      </a:lt2>
      <a:accent1>
        <a:srgbClr val="0B6BCB"/>
      </a:accent1>
      <a:accent2>
        <a:srgbClr val="F2A900"/>
      </a:accent2>
      <a:accent3>
        <a:srgbClr val="1F9D55"/>
      </a:accent3>
      <a:accent4>
        <a:srgbClr val="E46C0A"/>
      </a:accent4>
      <a:accent5>
        <a:srgbClr val="7C3AED"/>
      </a:accent5>
      <a:accent6>
        <a:srgbClr val="D62839"/>
      </a:accent6>
      <a:hlink>
        <a:srgbClr val="0B6BCB"/>
      </a:hlink>
      <a:folHlink>
        <a:srgbClr val="7C3AED"/>
      </a:folHlink>
    </a:clrScheme>
    <a:fontScheme name="GridMind 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GridMind AI</dc:title>
  <dc:subject>PptxGenJS Presentation</dc:subject>
  <dc:creator>GridMind AI team</dc:creator>
  <cp:lastModifiedBy>GridMind AI team</cp:lastModifiedBy>
  <cp:revision>1</cp:revision>
  <dcterms:created xsi:type="dcterms:W3CDTF">2026-10-11T23:10:43Z</dcterms:created>
  <dcterms:modified xsi:type="dcterms:W3CDTF">2026-10-11T23:10:43Z</dcterms:modified>
</cp:coreProperties>
</file>